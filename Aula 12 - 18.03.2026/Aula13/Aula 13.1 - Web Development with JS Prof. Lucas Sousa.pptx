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jWmxF5GgDMtfGIP+1cee+zs/Ae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1B0FDE-3513-443E-810B-2E16551E576E}">
  <a:tblStyle styleId="{361B0FDE-3513-443E-810B-2E16551E576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+ Black">
  <p:cSld name="Logo + Black">
    <p:bg>
      <p:bgPr>
        <a:solidFill>
          <a:srgbClr val="1A1C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01700" y="292781"/>
            <a:ext cx="11588600" cy="6272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1366" y="2854782"/>
            <a:ext cx="4269268" cy="114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abeçalho da Seção">
  <p:cSld name="1_Cabeçalho da Seçã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9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  <a:defRPr b="0" sz="36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2" name="Google Shape;2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9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b="1"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p49"/>
          <p:cNvSpPr txBox="1"/>
          <p:nvPr/>
        </p:nvSpPr>
        <p:spPr>
          <a:xfrm>
            <a:off x="219075" y="6088030"/>
            <a:ext cx="338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Fevereiro 202</a:t>
            </a:r>
            <a:r>
              <a:rPr lang="pt-BR" sz="2000">
                <a:solidFill>
                  <a:srgbClr val="595959"/>
                </a:solidFill>
              </a:rPr>
              <a:t>5</a:t>
            </a:r>
            <a:r>
              <a:rPr b="0" i="0" lang="pt-BR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/ versão 1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Logo + Black">
  <p:cSld name="1_Logo + Black">
    <p:bg>
      <p:bgPr>
        <a:solidFill>
          <a:srgbClr val="1A1C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0"/>
          <p:cNvSpPr txBox="1"/>
          <p:nvPr>
            <p:ph type="title"/>
          </p:nvPr>
        </p:nvSpPr>
        <p:spPr>
          <a:xfrm>
            <a:off x="838198" y="3017044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800"/>
              <a:buFont typeface="Arial"/>
              <a:buNone/>
              <a:defRPr sz="48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0" name="Google Shape;3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7839" y="364886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9100" y="0"/>
            <a:ext cx="11353798" cy="16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53799" y="5485606"/>
            <a:ext cx="838201" cy="58261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1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1"/>
          <p:cNvSpPr txBox="1"/>
          <p:nvPr>
            <p:ph idx="1" type="body"/>
          </p:nvPr>
        </p:nvSpPr>
        <p:spPr>
          <a:xfrm>
            <a:off x="838200" y="1493521"/>
            <a:ext cx="10515600" cy="4976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4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20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8" name="Google Shape;38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7320" y="387750"/>
            <a:ext cx="121148" cy="98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Cabeçalho da Seção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975643"/>
            <a:ext cx="12191999" cy="290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2"/>
          <p:cNvSpPr txBox="1"/>
          <p:nvPr>
            <p:ph type="title"/>
          </p:nvPr>
        </p:nvSpPr>
        <p:spPr>
          <a:xfrm>
            <a:off x="838199" y="2073528"/>
            <a:ext cx="11183471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  <a:defRPr sz="4000">
                <a:solidFill>
                  <a:srgbClr val="D8D8D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94" y="2039437"/>
            <a:ext cx="199158" cy="259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3361" y="145018"/>
            <a:ext cx="1579539" cy="42489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" name="Google Shape;46;p52"/>
          <p:cNvSpPr txBox="1"/>
          <p:nvPr/>
        </p:nvSpPr>
        <p:spPr>
          <a:xfrm>
            <a:off x="838199" y="3357951"/>
            <a:ext cx="10699378" cy="1234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Todos direitos reservados. Reprodução ou divulgação total ou parcial deste documento é expressamente proibido sem o consentimento formal, por escrito, do Professor (autor).</a:t>
            </a:r>
            <a:endParaRPr b="1" i="0" sz="4800" u="none" cap="none" strike="noStrike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e Conteúdo">
  <p:cSld name="1_Título e Conteúd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1A1C1E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hyperlink" Target="https://pokeapi.co/api/v2/pokemon?offset=0&amp;limit=20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Relationship Id="rId4" Type="http://schemas.openxmlformats.org/officeDocument/2006/relationships/hyperlink" Target="https://pokeapi.co/api/v2/pokemon/%7bid" TargetMode="External"/><Relationship Id="rId5" Type="http://schemas.openxmlformats.org/officeDocument/2006/relationships/hyperlink" Target="https://pokeapi.co/api/v2/pokemon/1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Relationship Id="rId4" Type="http://schemas.openxmlformats.org/officeDocument/2006/relationships/hyperlink" Target="https://es.wikipedia.org/wiki/Transferencia_de_Estado_Representacional" TargetMode="External"/><Relationship Id="rId5" Type="http://schemas.openxmlformats.org/officeDocument/2006/relationships/hyperlink" Target="https://es.wikipedia.org/wiki/Transferencia_de_Estado_Representaciona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Relationship Id="rId4" Type="http://schemas.openxmlformats.org/officeDocument/2006/relationships/hyperlink" Target="https://pokeapi.co/docs/v2" TargetMode="External"/><Relationship Id="rId5" Type="http://schemas.openxmlformats.org/officeDocument/2006/relationships/hyperlink" Target="https://swapi.dev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pokeapi.co/docs/v2#pokemon" TargetMode="External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jsonplaceholder.typicode.com/guide/" TargetMode="External"/><Relationship Id="rId4" Type="http://schemas.openxmlformats.org/officeDocument/2006/relationships/hyperlink" Target="https://jsonplaceholder.typicode.com/guide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jsonplaceholder.typicode.com/guide/" TargetMode="External"/><Relationship Id="rId4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jsonplaceholder.typicode.com/" TargetMode="External"/><Relationship Id="rId4" Type="http://schemas.openxmlformats.org/officeDocument/2006/relationships/hyperlink" Target="https://developer.mozilla.org/pt-BR/docs/Web/API/Fetch_API/Using_Fetch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838200" y="2073528"/>
            <a:ext cx="105156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/>
              <a:t>Engenharia de Software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831850" y="2967290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3600"/>
              <a:buNone/>
            </a:pPr>
            <a:r>
              <a:rPr lang="pt-BR"/>
              <a:t>Web Development with JS</a:t>
            </a:r>
            <a:endParaRPr/>
          </a:p>
        </p:txBody>
      </p:sp>
      <p:sp>
        <p:nvSpPr>
          <p:cNvPr id="59" name="Google Shape;59;p2"/>
          <p:cNvSpPr txBox="1"/>
          <p:nvPr>
            <p:ph idx="2" type="body"/>
          </p:nvPr>
        </p:nvSpPr>
        <p:spPr>
          <a:xfrm>
            <a:off x="831850" y="3960557"/>
            <a:ext cx="10515600" cy="642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</a:pPr>
            <a:r>
              <a:rPr lang="pt-BR"/>
              <a:t>Prof. Lucas Sousa</a:t>
            </a:r>
            <a:endParaRPr/>
          </a:p>
        </p:txBody>
      </p:sp>
      <p:sp>
        <p:nvSpPr>
          <p:cNvPr id="60" name="Google Shape;60;p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838200" y="1046480"/>
            <a:ext cx="10515600" cy="5362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400"/>
              <a:buFont typeface="Arial"/>
              <a:buNone/>
            </a:pPr>
            <a:r>
              <a:rPr lang="pt-BR" sz="4400"/>
              <a:t>Fetch e API</a:t>
            </a:r>
            <a:endParaRPr sz="4400"/>
          </a:p>
        </p:txBody>
      </p:sp>
      <p:sp>
        <p:nvSpPr>
          <p:cNvPr id="66" name="Google Shape;66;p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Modelo Cliente-Servidor</a:t>
            </a:r>
            <a:endParaRPr/>
          </a:p>
        </p:txBody>
      </p:sp>
      <p:sp>
        <p:nvSpPr>
          <p:cNvPr id="72" name="Google Shape;72;p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896300" y="1429821"/>
            <a:ext cx="7169400" cy="6661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b="1" i="0" lang="pt-BR" sz="35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Comunicação com o servidor</a:t>
            </a:r>
            <a:endParaRPr b="1" i="0" sz="35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911860" y="2132965"/>
            <a:ext cx="11040745" cy="16586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O domínio está associado a um servidor, ou seja, um computador que contém a aplicação web (o servidor que a hospeda). Quando o site é carregado, o usuário visualiza a parte frontal da aplicação, chamada </a:t>
            </a:r>
            <a:r>
              <a:rPr b="1" i="0" lang="pt-BR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Front-End ou lado do cliente</a:t>
            </a:r>
            <a:r>
              <a:rPr b="0" i="0" lang="pt-BR" sz="24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, com a qual é possível interagir.</a:t>
            </a:r>
            <a:endParaRPr b="0" i="0" sz="2400" u="none" cap="none" strike="noStrik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icionário da programação para não-programadores • Usemobile"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6380" y="3671570"/>
            <a:ext cx="7444740" cy="306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81" name="Google Shape;81;p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2" name="Google Shape;82;p7"/>
          <p:cNvSpPr txBox="1"/>
          <p:nvPr/>
        </p:nvSpPr>
        <p:spPr>
          <a:xfrm>
            <a:off x="629920" y="1512570"/>
            <a:ext cx="7407275" cy="21564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mecanismo pelo qual os dados são solicitados e fornecidos através da Internet é o </a:t>
            </a: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(Hypertext Transfer Protocol).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emitimos uma ordem ao navegador, ele faz uma solicitação (ou request) HTTP para algum servidor, e esse servidor irá recebê-la, processá-la e nos devolverá uma resposta com informações que utilizaremos na aplicação web. 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7"/>
          <p:cNvPicPr preferRelativeResize="0"/>
          <p:nvPr/>
        </p:nvPicPr>
        <p:blipFill rotWithShape="1">
          <a:blip r:embed="rId3">
            <a:alphaModFix/>
          </a:blip>
          <a:srcRect b="8045" l="0" r="0" t="8054"/>
          <a:stretch/>
        </p:blipFill>
        <p:spPr>
          <a:xfrm>
            <a:off x="7795260" y="0"/>
            <a:ext cx="4396740" cy="685863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"/>
          <p:cNvSpPr txBox="1"/>
          <p:nvPr/>
        </p:nvSpPr>
        <p:spPr>
          <a:xfrm>
            <a:off x="629920" y="3717290"/>
            <a:ext cx="6612890" cy="30410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solicitações que devemos fazer são definidas por várias partes: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URL ou endereço.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método (GET, POST, PUT, DELETE).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Headers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Body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Parâmetros (query params ou URL params).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1" name="Google Shape;91;p8"/>
          <p:cNvSpPr txBox="1"/>
          <p:nvPr/>
        </p:nvSpPr>
        <p:spPr>
          <a:xfrm>
            <a:off x="845185" y="1512570"/>
            <a:ext cx="7007225" cy="36461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URL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nos comunicamos com um servidor para solicitar informação, fazemos isso através de uma URL, já que buscamos um programa hospedado em algum host e nos comunicamos com ele através do endereço correto.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8"/>
          <p:cNvPicPr preferRelativeResize="0"/>
          <p:nvPr/>
        </p:nvPicPr>
        <p:blipFill rotWithShape="1">
          <a:blip r:embed="rId3">
            <a:alphaModFix/>
          </a:blip>
          <a:srcRect b="0" l="5665" r="5657" t="0"/>
          <a:stretch/>
        </p:blipFill>
        <p:spPr>
          <a:xfrm>
            <a:off x="7797165" y="0"/>
            <a:ext cx="4394835" cy="6856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9" name="Google Shape;99;p9"/>
          <p:cNvPicPr preferRelativeResize="0"/>
          <p:nvPr/>
        </p:nvPicPr>
        <p:blipFill rotWithShape="1">
          <a:blip r:embed="rId3">
            <a:alphaModFix/>
          </a:blip>
          <a:srcRect b="0" l="5665" r="5657" t="0"/>
          <a:stretch/>
        </p:blipFill>
        <p:spPr>
          <a:xfrm>
            <a:off x="7797165" y="0"/>
            <a:ext cx="4394835" cy="6856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 txBox="1"/>
          <p:nvPr/>
        </p:nvSpPr>
        <p:spPr>
          <a:xfrm>
            <a:off x="701675" y="1640205"/>
            <a:ext cx="7040880" cy="46316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</a:t>
            </a:r>
            <a:endParaRPr b="1" i="0" sz="20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solicitação que fizermos virá acompanhada de um verbo, que indica ao servidor qual é a nossa intenção ao interagirmos com ele. O servidor tem a capacidade de escutar diversas solicitações na mesma URL e decidir como e qual delas responderá. Entre os verbos mais utilizados, os 4 principais se destacam, por mais que existam muitos outros: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obter informações (ou recursos) do servidor. Normalmente são as solicitações mais utilizadas.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enviar informação ao servidor para criar algum recurso.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criar ou modificar algum recurso no servidor.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DELETE: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eliminar algum recurso no servidor.</a:t>
            </a:r>
            <a:endParaRPr b="1" i="0" sz="20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106" name="Google Shape;106;p1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3">
            <a:alphaModFix/>
          </a:blip>
          <a:srcRect b="0" l="5665" r="5657" t="0"/>
          <a:stretch/>
        </p:blipFill>
        <p:spPr>
          <a:xfrm>
            <a:off x="7797165" y="0"/>
            <a:ext cx="4394835" cy="6856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 txBox="1"/>
          <p:nvPr/>
        </p:nvSpPr>
        <p:spPr>
          <a:xfrm>
            <a:off x="839470" y="1700530"/>
            <a:ext cx="667131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solicitações do tipo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vão acompanhadas de um body ou corpo do request, em que se definem os dados (informações) a serem enviados ao servidor.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solicitações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têm body, já que não precisam enviar dados associados.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b="0" l="5665" r="5657" t="0"/>
          <a:stretch/>
        </p:blipFill>
        <p:spPr>
          <a:xfrm>
            <a:off x="7797165" y="0"/>
            <a:ext cx="4394835" cy="685673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1"/>
          <p:cNvSpPr txBox="1"/>
          <p:nvPr/>
        </p:nvSpPr>
        <p:spPr>
          <a:xfrm>
            <a:off x="767715" y="1485265"/>
            <a:ext cx="6563995" cy="2722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Body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 espaço na solicitação em que são definidos os dados a serem enviados ao servidor.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1"/>
          <p:cNvPicPr preferRelativeResize="0"/>
          <p:nvPr/>
        </p:nvPicPr>
        <p:blipFill rotWithShape="1">
          <a:blip r:embed="rId4">
            <a:alphaModFix/>
          </a:blip>
          <a:srcRect b="0" l="0" r="0" t="15682"/>
          <a:stretch/>
        </p:blipFill>
        <p:spPr>
          <a:xfrm>
            <a:off x="768350" y="4177030"/>
            <a:ext cx="6522085" cy="2586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" name="Google Shape;124;p12"/>
          <p:cNvSpPr txBox="1"/>
          <p:nvPr/>
        </p:nvSpPr>
        <p:spPr>
          <a:xfrm>
            <a:off x="767715" y="1557020"/>
            <a:ext cx="604647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HEADERS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cabeçalhos (headers) HTTP permitem que o cliente e o servidor enviem informação sobre a solicitação e a resposta. Os headers incluem informação sobre a solicitação para estabelecer uma transferência segura e clara e, se for necessário, podem ser modificados para acrescentar dados adicionais.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devemos confundir informações sobre a solicitação (headers) com os dados que a solicitação pode transferir (body). 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2450" y="1340485"/>
            <a:ext cx="5237480" cy="40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2" name="Google Shape;132;p13"/>
          <p:cNvPicPr preferRelativeResize="0"/>
          <p:nvPr/>
        </p:nvPicPr>
        <p:blipFill rotWithShape="1">
          <a:blip r:embed="rId3">
            <a:alphaModFix/>
          </a:blip>
          <a:srcRect b="0" l="5665" r="5657" t="0"/>
          <a:stretch/>
        </p:blipFill>
        <p:spPr>
          <a:xfrm>
            <a:off x="7797165" y="0"/>
            <a:ext cx="4394835" cy="685673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/>
        </p:nvSpPr>
        <p:spPr>
          <a:xfrm>
            <a:off x="773430" y="1574165"/>
            <a:ext cx="6788150" cy="43414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PARÂMETROS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especificar uma solicitação, informações adicionais podem ser enviadas na forma de parâmetros através da URL. Temos duas formas de definir parâmetros através da URL: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 params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URL params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139" name="Google Shape;139;p1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3">
            <a:alphaModFix/>
          </a:blip>
          <a:srcRect b="0" l="5665" r="5657" t="0"/>
          <a:stretch/>
        </p:blipFill>
        <p:spPr>
          <a:xfrm>
            <a:off x="7797165" y="0"/>
            <a:ext cx="4394835" cy="685673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/>
        </p:nvSpPr>
        <p:spPr>
          <a:xfrm>
            <a:off x="768985" y="1543050"/>
            <a:ext cx="6902450" cy="53136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Query params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sintaxe que permite associar uma série de parâmetros na URL na forma de pares chave-valor. Por exemplo, quando fazemos uma busca no Google, ele envia o valor informado pelo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parâmetro q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através da URL: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símbolo ? é utilizado para indicar o final do endereço da URL e o começo da query. A partir desse ponto, são escritos os parâmetros com a forma chave=valor, sendo possível definir vários deles e separá-los com o símbolo ampersand  (&amp;).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945515" y="3985260"/>
            <a:ext cx="580961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https://www.google.com.br/search?q=fiap</a:t>
            </a:r>
            <a:endParaRPr b="0" i="0" sz="2400" u="sng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5520055" y="4004945"/>
            <a:ext cx="575945" cy="431800"/>
          </a:xfrm>
          <a:prstGeom prst="ellipse">
            <a:avLst/>
          </a:pr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0" name="Google Shape;150;p15"/>
          <p:cNvPicPr preferRelativeResize="0"/>
          <p:nvPr/>
        </p:nvPicPr>
        <p:blipFill rotWithShape="1">
          <a:blip r:embed="rId3">
            <a:alphaModFix/>
          </a:blip>
          <a:srcRect b="0" l="5665" r="5657" t="0"/>
          <a:stretch/>
        </p:blipFill>
        <p:spPr>
          <a:xfrm>
            <a:off x="7797165" y="0"/>
            <a:ext cx="4394835" cy="685673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704215" y="1501775"/>
            <a:ext cx="7107555" cy="45135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Query params</a:t>
            </a:r>
            <a:endParaRPr b="1" i="0" sz="22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exemplo, nesta URL, se faz uma consulta da PokéAPI (https://pokeapi.co/docs/v2), solicitando informação ao endpoint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/pokemon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enviando os parâmetros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offset=0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limit=20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pt-BR" sz="22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https://pokeapi.co/api/v2/pokemon?offset=0&amp;limit=20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condiciona a busca aos dados que queremos do servidor.</a:t>
            </a:r>
            <a:endParaRPr b="1" i="0" sz="22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Solicitações HTTP</a:t>
            </a:r>
            <a:endParaRPr/>
          </a:p>
        </p:txBody>
      </p: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3">
            <a:alphaModFix/>
          </a:blip>
          <a:srcRect b="0" l="5665" r="5657" t="0"/>
          <a:stretch/>
        </p:blipFill>
        <p:spPr>
          <a:xfrm>
            <a:off x="7797165" y="0"/>
            <a:ext cx="4394835" cy="685673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767715" y="1485265"/>
            <a:ext cx="6972300" cy="5108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URL params</a:t>
            </a:r>
            <a:endParaRPr b="1" i="0" sz="22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sintaxe que permite enviar parâmetros diretamente na forma de segmentos da URL, ou seja, separados por “/”. Por exemplo, a PokéAPI nos indica o seguinte: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https://pokeapi.co/api/v2/pokemon/{id or name}/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significa que esse {id or name} é um parâmetro, um valor dinâmico que inserimos na URL, nesse caso, para obter informação sobre um Pokémon de acordo com seu ID ou nome. Para obter informação sobre aquele com id = 1, faríamos uma solicitação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GET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seguinte URL: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https://pokeapi.co/api/v2/pokemon/1</a:t>
            </a:r>
            <a:endParaRPr b="1" i="0" sz="22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Estados de solicitação</a:t>
            </a:r>
            <a:endParaRPr/>
          </a:p>
        </p:txBody>
      </p:sp>
      <p:sp>
        <p:nvSpPr>
          <p:cNvPr id="165" name="Google Shape;165;p1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39470" y="1557020"/>
            <a:ext cx="9676130" cy="37585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aba Network das “ferramentas do desenvolvedor”, podemos ver todas as solicitações realizadas pelo navegador. Vemos que, por exemplo, ao solicitar acesso a algum site, o navegador realiza diversas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solicitações do tipo GET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obter recursos do servidor em questão.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solicitações fornecem todos os arquivos necessários para montar a página no browser (HTML, CSS, scripts, imagens, etc.) e, com isso, visualizar a aplicação da forma correta.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Estados de solicitação</a:t>
            </a:r>
            <a:endParaRPr/>
          </a:p>
        </p:txBody>
      </p:sp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70" y="1628775"/>
            <a:ext cx="11043920" cy="36137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839470" y="476885"/>
            <a:ext cx="7708900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Estados de solicitação</a:t>
            </a:r>
            <a:endParaRPr/>
          </a:p>
        </p:txBody>
      </p:sp>
      <p:sp>
        <p:nvSpPr>
          <p:cNvPr id="179" name="Google Shape;179;p1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67715" y="1628775"/>
            <a:ext cx="10022840" cy="37007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solicitação tem um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Status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é um código que representa o estado da solicitação: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Códigos de estado que começam com 2 (geralmente 200) representam uma solicitação bem-sucedida.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códigos que começam com 4 significam que houve algum erro com a solicitação. 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famoso erro 404 indica que o recurso buscado não foi encontrado.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Códigos que começam com 5 significam que houve um erro com o servidor e, portanto, não foi um erro da solicitação.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API</a:t>
            </a:r>
            <a:endParaRPr/>
          </a:p>
        </p:txBody>
      </p:sp>
      <p:sp>
        <p:nvSpPr>
          <p:cNvPr id="186" name="Google Shape;186;p2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47786" r="16157" t="0"/>
          <a:stretch/>
        </p:blipFill>
        <p:spPr>
          <a:xfrm>
            <a:off x="7765415" y="0"/>
            <a:ext cx="4426585" cy="685863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845185" y="1645920"/>
            <a:ext cx="6665595" cy="48507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API (Application Programming Interfaces)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aplicação web construída com base na arquitetura</a:t>
            </a:r>
            <a:r>
              <a:rPr b="0" i="0" lang="pt-BR" sz="2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 REST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 a qual podemos solicitar e enviar informação a partir do cliente.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Geralmente nos comunicamos com aplicações desse tipo, sendo essa a tendência atual de desenvolvimento.</a:t>
            </a:r>
            <a:r>
              <a:rPr b="0" i="0" lang="pt-BR" sz="2400" u="sng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 vantagem desse modelo é que ele está orientado aos recursos e define métodos claros para solicitar e enviar informação.</a:t>
            </a:r>
            <a:endParaRPr b="1" i="0" sz="24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API</a:t>
            </a:r>
            <a:endParaRPr/>
          </a:p>
        </p:txBody>
      </p:sp>
      <p:sp>
        <p:nvSpPr>
          <p:cNvPr id="194" name="Google Shape;194;p2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b="0" l="47786" r="16157" t="0"/>
          <a:stretch/>
        </p:blipFill>
        <p:spPr>
          <a:xfrm>
            <a:off x="7765415" y="0"/>
            <a:ext cx="4426585" cy="685863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767715" y="1557020"/>
            <a:ext cx="6463030" cy="45675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Existem muitas APIs disponíveis que podemos utilizar para acessar diversos recursos úteis para nossa aplicação: Serviços de conteúdo (CMS), plataformas de pagamento, serviços de e-mail, etc.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Existem até mesmo APIs criadas como bases de informação sobre séries e videogames populares, como a PokéAPI (</a:t>
            </a:r>
            <a:r>
              <a:rPr b="0" i="0" lang="pt-BR" sz="24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Documentation - PokéAPI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ou a Star Wars API (</a:t>
            </a:r>
            <a:r>
              <a:rPr b="0" i="0" lang="pt-BR" sz="24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SWAPI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API</a:t>
            </a:r>
            <a:endParaRPr/>
          </a:p>
        </p:txBody>
      </p:sp>
      <p:sp>
        <p:nvSpPr>
          <p:cNvPr id="202" name="Google Shape;202;p2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47786" r="16157" t="0"/>
          <a:stretch/>
        </p:blipFill>
        <p:spPr>
          <a:xfrm>
            <a:off x="7765415" y="0"/>
            <a:ext cx="4426585" cy="685863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839470" y="1628775"/>
            <a:ext cx="6477000" cy="4815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Normalmente, uma API tem uma URL base, que é o endereço onde a aplicação está hospedada, e pode ter vários endpoints, que são diversas seções que podemos acessar e fazer solicitações com diferentes métodos ao mesmo endpoint e </a:t>
            </a:r>
            <a:r>
              <a:rPr b="0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obter resultados diferentes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isso devemos revisar a documentação ao utilizar uma API, já que ela contém as definições dos diferentes endpoints disponíveis, quais métodos utilizar para fazer uma solicitação e o que nos oferecerá em resposta.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API</a:t>
            </a:r>
            <a:endParaRPr/>
          </a:p>
        </p:txBody>
      </p:sp>
      <p:sp>
        <p:nvSpPr>
          <p:cNvPr id="210" name="Google Shape;210;p2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911860" y="1484630"/>
            <a:ext cx="10748645" cy="9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exemplo, a Poké API nos oferece a opção de consultar informações sobre algum Pokémon (</a:t>
            </a:r>
            <a:r>
              <a:rPr b="0" i="0" lang="pt-BR" sz="24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https://pokeapi.co/docs/v2#pokemon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2390" y="2419985"/>
            <a:ext cx="8481060" cy="4170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Fetch</a:t>
            </a:r>
            <a:endParaRPr/>
          </a:p>
        </p:txBody>
      </p:sp>
      <p:sp>
        <p:nvSpPr>
          <p:cNvPr id="218" name="Google Shape;218;p2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767715" y="1588135"/>
            <a:ext cx="9580880" cy="2386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Javascript nos disponibiliza 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 fetch()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para fazer solicitações HTTP a algum serviço externo. Essas solicitações são assíncronas e, convenientemente, o método fetch() trabalha com promessas.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 método recebe um primeiro parâmetro, que é a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URL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para a qual será feita a solicitação, e um segundo parâmetro opcional de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configuração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" name="Google Shape;220;p24"/>
          <p:cNvGraphicFramePr/>
          <p:nvPr/>
        </p:nvGraphicFramePr>
        <p:xfrm>
          <a:off x="910590" y="51568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3260725"/>
              </a:tblGrid>
              <a:tr h="5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0"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b="0"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(url, config)</a:t>
                      </a:r>
                      <a:endParaRPr b="0"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Fetch</a:t>
            </a:r>
            <a:endParaRPr/>
          </a:p>
        </p:txBody>
      </p:sp>
      <p:sp>
        <p:nvSpPr>
          <p:cNvPr id="226" name="Google Shape;226;p2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7" name="Google Shape;227;p25"/>
          <p:cNvSpPr txBox="1"/>
          <p:nvPr/>
        </p:nvSpPr>
        <p:spPr>
          <a:xfrm>
            <a:off x="767715" y="1430020"/>
            <a:ext cx="11016615" cy="2727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Para os próximos exemplos, utilizaremos a API </a:t>
            </a:r>
            <a:r>
              <a:rPr b="0" i="0" lang="pt-BR" sz="2400" u="sng" cap="none" strike="noStrike">
                <a:solidFill>
                  <a:srgbClr val="999999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JSON Placeholder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, projetada para testar solicitações simulando uma lista de posts.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Por padrão, o método fetch faz solicitações do tipo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GET</a:t>
            </a: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De acordo com a documentação, para obter uma lista de posts, devemos fazer uma solicitação do seguinte tipo.</a:t>
            </a:r>
            <a:r>
              <a:rPr b="0" i="0" lang="pt-BR" sz="2400" u="sng" cap="none" strike="noStrike">
                <a:solidFill>
                  <a:schemeClr val="accent5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8" name="Google Shape;228;p25"/>
          <p:cNvGraphicFramePr/>
          <p:nvPr/>
        </p:nvGraphicFramePr>
        <p:xfrm>
          <a:off x="1415415" y="43256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8931900"/>
              </a:tblGrid>
              <a:tr h="163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Fetch</a:t>
            </a:r>
            <a:endParaRPr/>
          </a:p>
        </p:txBody>
      </p:sp>
      <p:sp>
        <p:nvSpPr>
          <p:cNvPr id="234" name="Google Shape;234;p2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767715" y="1412875"/>
            <a:ext cx="10142855" cy="251650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processo retorna uma Promessa pendente.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trabalhar com a resolução da solicitação,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devemos fazer isso dentro do método .then()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correspondente: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Visualizando o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console.log </a:t>
            </a: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da resposta, não vemos a lista de posts que esperávamos, mas sim um objeto do tipo Response.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6" name="Google Shape;236;p26"/>
          <p:cNvGraphicFramePr/>
          <p:nvPr/>
        </p:nvGraphicFramePr>
        <p:xfrm>
          <a:off x="1199515" y="41484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8786500"/>
              </a:tblGrid>
              <a:tr h="943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237" name="Google Shape;23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180" y="5616575"/>
            <a:ext cx="10687050" cy="865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Response</a:t>
            </a:r>
            <a:endParaRPr/>
          </a:p>
        </p:txBody>
      </p:sp>
      <p:sp>
        <p:nvSpPr>
          <p:cNvPr id="243" name="Google Shape;243;p2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4" name="Google Shape;244;p27"/>
          <p:cNvSpPr txBox="1"/>
          <p:nvPr/>
        </p:nvSpPr>
        <p:spPr>
          <a:xfrm>
            <a:off x="767715" y="1341755"/>
            <a:ext cx="10946765" cy="30181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Chamar o fetch() retorna uma promessa que resolve um objeto Response, o qual contém informação sobre a resposta do servidor, como seu código de estado e headers. Para acessar o conteúdo da resposta devemos dar um passo adicional e, por isso, vemos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dois métodos .then() concatenados.</a:t>
            </a:r>
            <a:endParaRPr b="1" i="0" sz="22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Geralmente, os dados são transferidos em formato JSON. Portanto, para obter o conteúdo da resposta, devemos aplicar o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método .json() </a:t>
            </a: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esse objeto. Por sua vez, ele retorna uma Promessa e, por isso, captamos seu conteúdo (os dados enviados pela API) em um segundo .then():</a:t>
            </a:r>
            <a:endParaRPr b="0" i="0" sz="2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5" name="Google Shape;245;p27"/>
          <p:cNvGraphicFramePr/>
          <p:nvPr/>
        </p:nvGraphicFramePr>
        <p:xfrm>
          <a:off x="1919605" y="45808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8581400"/>
              </a:tblGrid>
              <a:tr h="1960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4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4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4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4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4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4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lang="pt-BR" sz="24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4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Response</a:t>
            </a:r>
            <a:endParaRPr/>
          </a:p>
        </p:txBody>
      </p:sp>
      <p:sp>
        <p:nvSpPr>
          <p:cNvPr id="251" name="Google Shape;251;p2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2" name="Google Shape;252;p28"/>
          <p:cNvSpPr txBox="1"/>
          <p:nvPr/>
        </p:nvSpPr>
        <p:spPr>
          <a:xfrm>
            <a:off x="767715" y="1533525"/>
            <a:ext cx="4250055" cy="40017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No parâmetro data, temos o conteúdo da resposta de nossa solicitação.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Nesse caso, a API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nos responde com um array de 100 elementos, em que cada elemento representa um post.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" name="Google Shape;25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5870" y="1555750"/>
            <a:ext cx="7015480" cy="3859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Analisando respostas</a:t>
            </a:r>
            <a:endParaRPr/>
          </a:p>
        </p:txBody>
      </p:sp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0" name="Google Shape;260;p30"/>
          <p:cNvSpPr txBox="1"/>
          <p:nvPr/>
        </p:nvSpPr>
        <p:spPr>
          <a:xfrm>
            <a:off x="850035" y="1988830"/>
            <a:ext cx="4138200" cy="14547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 como são os objetos presente no array retornado pela API </a:t>
            </a:r>
            <a:r>
              <a:rPr b="0" i="0" lang="pt-BR" sz="2400" u="sng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JSON Placeholder</a:t>
            </a:r>
            <a:r>
              <a:rPr b="0" i="0" lang="pt-BR" sz="24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5570" y="1052830"/>
            <a:ext cx="5476875" cy="4199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Analisando respostas</a:t>
            </a:r>
            <a:endParaRPr/>
          </a:p>
        </p:txBody>
      </p:sp>
      <p:sp>
        <p:nvSpPr>
          <p:cNvPr id="267" name="Google Shape;267;p3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8" name="Google Shape;268;p31"/>
          <p:cNvSpPr txBox="1"/>
          <p:nvPr/>
        </p:nvSpPr>
        <p:spPr>
          <a:xfrm>
            <a:off x="695960" y="1557020"/>
            <a:ext cx="3878580" cy="407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elemento tem as propriedades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body, id, title e userId</a:t>
            </a:r>
            <a:r>
              <a:rPr b="0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2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Lembre que estamos trabalhando com o parâmetro</a:t>
            </a:r>
            <a:r>
              <a:rPr b="0" i="1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data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definido, que é um array de objetos. Por isso, podemos percorrê-lo e acessar seus objetos e propriedades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9" name="Google Shape;269;p31"/>
          <p:cNvGraphicFramePr/>
          <p:nvPr/>
        </p:nvGraphicFramePr>
        <p:xfrm>
          <a:off x="4935220" y="152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7153275"/>
              </a:tblGrid>
              <a:tr h="203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].title)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].body)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pic>
        <p:nvPicPr>
          <p:cNvPr id="270" name="Google Shape;27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2840" y="3646805"/>
            <a:ext cx="6693535" cy="1796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Analisando respostas</a:t>
            </a:r>
            <a:endParaRPr/>
          </a:p>
        </p:txBody>
      </p:sp>
      <p:sp>
        <p:nvSpPr>
          <p:cNvPr id="276" name="Google Shape;276;p3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7" name="Google Shape;277;p32"/>
          <p:cNvSpPr txBox="1"/>
          <p:nvPr/>
        </p:nvSpPr>
        <p:spPr>
          <a:xfrm>
            <a:off x="839235" y="1269875"/>
            <a:ext cx="4138200" cy="48520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Tendo isso disponível dentro do método .then(),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podemos encaminhá-lo ao DOM utilizando os métodos vistos previamente!</a:t>
            </a:r>
            <a:endParaRPr b="1" i="0" sz="2200" u="none" cap="none" strike="noStrike">
              <a:solidFill>
                <a:schemeClr val="dk1"/>
              </a:solidFill>
              <a:highlight>
                <a:srgbClr val="EAFF6A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Ao obter a resposta da API, percorremos o array obtido e acrescentamos à &lt;ul&gt; um elemento &lt;li&gt; com o conteúdo de cada post no array. </a:t>
            </a:r>
            <a:endParaRPr b="1" i="0" sz="2200" u="none" cap="none" strike="noStrike">
              <a:solidFill>
                <a:schemeClr val="dk1"/>
              </a:solidFill>
              <a:highlight>
                <a:srgbClr val="E0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8" name="Google Shape;278;p32"/>
          <p:cNvGraphicFramePr/>
          <p:nvPr/>
        </p:nvGraphicFramePr>
        <p:xfrm>
          <a:off x="6960235" y="6927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3846200"/>
              </a:tblGrid>
              <a:tr h="1634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h2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&gt;Posts!&lt;/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h2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hr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ul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&gt;&lt;/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ul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src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main.js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&gt;&lt;/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script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9" name="Google Shape;279;p32"/>
          <p:cNvGraphicFramePr/>
          <p:nvPr/>
        </p:nvGraphicFramePr>
        <p:xfrm>
          <a:off x="5220335" y="2500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6245850"/>
              </a:tblGrid>
              <a:tr h="41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forEach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titulo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.title;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let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corpo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6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.body;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createElement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b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.innerHTML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&lt;h4&gt;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titulo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&lt;/h4&gt;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   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corpo </a:t>
                      </a:r>
                      <a:r>
                        <a:rPr lang="pt-BR" sz="16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r>
                        <a:rPr lang="pt-BR" sz="16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;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6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append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6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})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pt-BR" sz="16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16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type="title"/>
          </p:nvPr>
        </p:nvSpPr>
        <p:spPr>
          <a:xfrm>
            <a:off x="839470" y="476885"/>
            <a:ext cx="586549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Analisando respostas</a:t>
            </a:r>
            <a:endParaRPr/>
          </a:p>
        </p:txBody>
      </p:sp>
      <p:sp>
        <p:nvSpPr>
          <p:cNvPr id="285" name="Google Shape;285;p3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6" name="Google Shape;286;p33"/>
          <p:cNvSpPr txBox="1"/>
          <p:nvPr/>
        </p:nvSpPr>
        <p:spPr>
          <a:xfrm>
            <a:off x="839470" y="1484630"/>
            <a:ext cx="3271520" cy="1878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Vemos na página uma lista do conteúdo obtido a partir de um serviço externo.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33"/>
          <p:cNvPicPr preferRelativeResize="0"/>
          <p:nvPr/>
        </p:nvPicPr>
        <p:blipFill rotWithShape="1">
          <a:blip r:embed="rId3">
            <a:alphaModFix/>
          </a:blip>
          <a:srcRect b="0" l="0" r="0" t="813"/>
          <a:stretch/>
        </p:blipFill>
        <p:spPr>
          <a:xfrm>
            <a:off x="4439920" y="1501775"/>
            <a:ext cx="7371715" cy="3893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Enviando dados com Post</a:t>
            </a:r>
            <a:endParaRPr/>
          </a:p>
        </p:txBody>
      </p:sp>
      <p:sp>
        <p:nvSpPr>
          <p:cNvPr id="293" name="Google Shape;293;p3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4" name="Google Shape;294;p34"/>
          <p:cNvSpPr txBox="1"/>
          <p:nvPr/>
        </p:nvSpPr>
        <p:spPr>
          <a:xfrm>
            <a:off x="839470" y="1628775"/>
            <a:ext cx="8680450" cy="43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API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JSON Placeholder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também nos permite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simular solicitações POST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Isso significa que podemos fazer uma solicitação para enviar dados à API. Por ser uma simulação, na realidade, não se criam recursos no servidor, mas sim se obtém uma resposta aceitando o POST.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Dizemos que o segundo parâmetro do método fetch é um objeto de configuração. Nele, podemos definir o método, os headers e o body da solicitação. Embora o fetch possua valores padrões para isso (como o método GET por default), podemos modificá-lo conforme for necessário.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5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Enviando dados com Post</a:t>
            </a:r>
            <a:endParaRPr/>
          </a:p>
        </p:txBody>
      </p:sp>
      <p:sp>
        <p:nvSpPr>
          <p:cNvPr id="300" name="Google Shape;300;p3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1" name="Google Shape;301;p35"/>
          <p:cNvSpPr txBox="1"/>
          <p:nvPr/>
        </p:nvSpPr>
        <p:spPr>
          <a:xfrm>
            <a:off x="747395" y="1773555"/>
            <a:ext cx="2997200" cy="35769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Neste caso a documentação nos indica que, para fazer um post, devemos fazer um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fetch com as seguintes características:</a:t>
            </a:r>
            <a:endParaRPr b="1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2" name="Google Shape;302;p35"/>
          <p:cNvGraphicFramePr/>
          <p:nvPr/>
        </p:nvGraphicFramePr>
        <p:xfrm>
          <a:off x="3747770" y="141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8119750"/>
              </a:tblGrid>
              <a:tr h="441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method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body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stringify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title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FIAP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body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 de teste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userId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headers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Content-type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application/json; charset=UTF-8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},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response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))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Enviando dados com Post</a:t>
            </a:r>
            <a:endParaRPr/>
          </a:p>
        </p:txBody>
      </p:sp>
      <p:sp>
        <p:nvSpPr>
          <p:cNvPr id="308" name="Google Shape;308;p36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9" name="Google Shape;309;p36"/>
          <p:cNvSpPr txBox="1"/>
          <p:nvPr/>
        </p:nvSpPr>
        <p:spPr>
          <a:xfrm>
            <a:off x="839470" y="1628775"/>
            <a:ext cx="9469755" cy="4226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Temos várias propriedades a definir no objeto de configuração: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method: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POST. Significa que o método da solicitação será o POST. Se não o modificarmos, será do tipo GET por default.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headers: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nesse caso, se acrescenta uma propriedade ‘Content-type’ com o valor que a documentação da API nos indica. </a:t>
            </a:r>
            <a:r>
              <a:rPr b="0" i="1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solicitação não for acrescentada, será rejeitada pelo servidor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body: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aqui é onde ficam os dados que serão enviados ao servidor. Nesse caso, é enviado um objeto com a forma { title, body, userId }. O body deve ser enviado em formato JSON, por isso, o vemos dentro de um JSON.stringify().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11111"/>
              <a:buFont typeface="Arial"/>
              <a:buNone/>
            </a:pPr>
            <a:r>
              <a:rPr lang="pt-BR"/>
              <a:t>Enviando dados com Post</a:t>
            </a:r>
            <a:endParaRPr/>
          </a:p>
        </p:txBody>
      </p:sp>
      <p:sp>
        <p:nvSpPr>
          <p:cNvPr id="315" name="Google Shape;315;p37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6" name="Google Shape;316;p37"/>
          <p:cNvSpPr txBox="1"/>
          <p:nvPr/>
        </p:nvSpPr>
        <p:spPr>
          <a:xfrm>
            <a:off x="839470" y="1584325"/>
            <a:ext cx="8609965" cy="14547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Em geral, ao fazer um POST, obtemos uma resposta que nos envia uma cópia do recurso criado no servidor. A forma de trabalhar a resposta é a mesma que a anterior: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turar" id="317" name="Google Shape;31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080" y="3395345"/>
            <a:ext cx="9417685" cy="2199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Rotas relativas</a:t>
            </a:r>
            <a:endParaRPr/>
          </a:p>
        </p:txBody>
      </p:sp>
      <p:sp>
        <p:nvSpPr>
          <p:cNvPr id="323" name="Google Shape;323;p38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4" name="Google Shape;324;p38"/>
          <p:cNvSpPr txBox="1"/>
          <p:nvPr/>
        </p:nvSpPr>
        <p:spPr>
          <a:xfrm>
            <a:off x="695960" y="1557020"/>
            <a:ext cx="4162425" cy="4591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URL utilizada não conter o prefixo ‘https:’, a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rota é relativa.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Portanto, podemos fazer uma solicitação a algum arquivo local em formato JSON utilizando fetch.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exemplo, </a:t>
            </a:r>
            <a:r>
              <a:rPr b="1" i="0" lang="pt-BR" sz="22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criamos um arquivo data.json que simula um array de produtos.</a:t>
            </a:r>
            <a:r>
              <a:rPr b="1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Notem que deve estar escrito com o formato json válido.</a:t>
            </a:r>
            <a:endParaRPr b="0" i="0" sz="2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6" name="Google Shape;326;p38"/>
          <p:cNvGraphicFramePr/>
          <p:nvPr/>
        </p:nvGraphicFramePr>
        <p:xfrm>
          <a:off x="4871720" y="26365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7202175"/>
              </a:tblGrid>
              <a:tr h="2352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 1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preco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 2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preco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2500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 3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preco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3500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 4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preco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4500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{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nome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 5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preco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5500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id</a:t>
                      </a:r>
                      <a:r>
                        <a:rPr lang="pt-BR" sz="2000" u="none" cap="none" strike="noStrike">
                          <a:solidFill>
                            <a:srgbClr val="8BE9FE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20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Rotas relativas</a:t>
            </a:r>
            <a:endParaRPr/>
          </a:p>
        </p:txBody>
      </p:sp>
      <p:sp>
        <p:nvSpPr>
          <p:cNvPr id="332" name="Google Shape;332;p39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3" name="Google Shape;333;p39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9"/>
          <p:cNvSpPr txBox="1"/>
          <p:nvPr/>
        </p:nvSpPr>
        <p:spPr>
          <a:xfrm>
            <a:off x="767715" y="1484630"/>
            <a:ext cx="4386580" cy="23037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Ao carregar a aplicação, podemos chamar esse arquivo com o fetch e gerar uma visualização de forma assíncrona: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5" name="Google Shape;335;p39"/>
          <p:cNvGraphicFramePr/>
          <p:nvPr/>
        </p:nvGraphicFramePr>
        <p:xfrm>
          <a:off x="5231765" y="9086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6873250"/>
              </a:tblGrid>
              <a:tr h="4866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lista2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getElementById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b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8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/data.json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then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b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forEach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createElement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.innerHTML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   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&lt;h4&gt;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.nome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&lt;/h4&gt;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   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.preco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   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&lt;p&gt;Código: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18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produto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.id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18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    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18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&lt;hr&gt;</a:t>
                      </a:r>
                      <a:r>
                        <a:rPr lang="pt-BR" sz="18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b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lista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append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18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})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18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  <p:sp>
        <p:nvSpPr>
          <p:cNvPr id="336" name="Google Shape;336;p39"/>
          <p:cNvSpPr txBox="1"/>
          <p:nvPr/>
        </p:nvSpPr>
        <p:spPr>
          <a:xfrm>
            <a:off x="839470" y="3860800"/>
            <a:ext cx="4239260" cy="18789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Por ser um arquivo local, a resposta é quase imediata, mas continua sendo um processo assíncrono.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0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Async - Await</a:t>
            </a:r>
            <a:endParaRPr/>
          </a:p>
        </p:txBody>
      </p:sp>
      <p:sp>
        <p:nvSpPr>
          <p:cNvPr id="342" name="Google Shape;342;p40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3" name="Google Shape;343;p40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0"/>
          <p:cNvSpPr txBox="1"/>
          <p:nvPr/>
        </p:nvSpPr>
        <p:spPr>
          <a:xfrm>
            <a:off x="767715" y="1557020"/>
            <a:ext cx="8352790" cy="38296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Trabalhar com promessas facilita muito o controle dos processos assíncronos. No entanto, em processos mais extensos, escrever tudo dentro de vários métodos .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then()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 dificultar nosso trabalho.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sorte, os(as) desenvolvedores(as) do JS já pensaram nisso e nos deixaram uma ferramenta que nos permite trabalhar as promessas assim como escreveríamos um código síncrono: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async await.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Async - Await</a:t>
            </a:r>
            <a:endParaRPr/>
          </a:p>
        </p:txBody>
      </p:sp>
      <p:sp>
        <p:nvSpPr>
          <p:cNvPr id="350" name="Google Shape;350;p41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1" name="Google Shape;351;p41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1"/>
          <p:cNvSpPr txBox="1"/>
          <p:nvPr/>
        </p:nvSpPr>
        <p:spPr>
          <a:xfrm>
            <a:off x="839470" y="1501775"/>
            <a:ext cx="10670540" cy="27279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fetch retorna uma promessa. De forma síncrona, se armazenarmos essa promessa em uma variável, veremos a promessa pendente, pois isso acontece sincronicamente: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significa que o </a:t>
            </a:r>
            <a:r>
              <a:rPr b="1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console.log()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não espera até que a promessa da linha anterior seja resolvida para ser executado.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3" name="Google Shape;353;p41"/>
          <p:cNvGraphicFramePr/>
          <p:nvPr/>
        </p:nvGraphicFramePr>
        <p:xfrm>
          <a:off x="1991360" y="473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7599675"/>
              </a:tblGrid>
              <a:tr h="1224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Promise {&lt;pending&gt;}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Async - Await</a:t>
            </a:r>
            <a:endParaRPr/>
          </a:p>
        </p:txBody>
      </p:sp>
      <p:sp>
        <p:nvSpPr>
          <p:cNvPr id="359" name="Google Shape;359;p42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0" name="Google Shape;360;p42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2"/>
          <p:cNvSpPr txBox="1"/>
          <p:nvPr/>
        </p:nvSpPr>
        <p:spPr>
          <a:xfrm>
            <a:off x="839470" y="1484630"/>
            <a:ext cx="10339070" cy="30111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 sentença await nos permite estabelecer um ponto de espera no código. Aplicada a uma promessa (nesse caso, o return do fetch) como prefixo, bloqueia a execução da próxima instrução até que a promessa seja resolvida. 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Assim, ao acrescentarmos essa sentença, podemos agora ver o objeto Response na variável, ou seja, a promessa resolvida: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2" name="Google Shape;362;p42"/>
          <p:cNvGraphicFramePr/>
          <p:nvPr/>
        </p:nvGraphicFramePr>
        <p:xfrm>
          <a:off x="2279650" y="47967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7419350"/>
              </a:tblGrid>
              <a:tr h="114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await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console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log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Response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3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Async - Await</a:t>
            </a:r>
            <a:endParaRPr/>
          </a:p>
        </p:txBody>
      </p:sp>
      <p:sp>
        <p:nvSpPr>
          <p:cNvPr id="368" name="Google Shape;368;p43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9" name="Google Shape;369;p43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3"/>
          <p:cNvSpPr txBox="1"/>
          <p:nvPr/>
        </p:nvSpPr>
        <p:spPr>
          <a:xfrm>
            <a:off x="760095" y="1410970"/>
            <a:ext cx="11089005" cy="4638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Mas a sentença await só pode ser utilizada dentro de uma função assíncrona. É aqui que a sentença async entra em cena.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Essa palavra reservada serve para declarar uma função como assíncrona e é adicionada à função como prefixo: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Dito isso, </a:t>
            </a:r>
            <a:r>
              <a:rPr b="1" i="0" lang="pt-BR" sz="24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dentro de uma função async, podemos utilizar a sentença await vista anteriormente. </a:t>
            </a: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nos permite esperar que as promessas vistas sejam resolvidas para continuar com a próxima instrução. </a:t>
            </a:r>
            <a:endParaRPr b="0" i="0" sz="24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1" name="Google Shape;371;p43"/>
          <p:cNvGraphicFramePr/>
          <p:nvPr/>
        </p:nvGraphicFramePr>
        <p:xfrm>
          <a:off x="2726055" y="3357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6889125"/>
              </a:tblGrid>
              <a:tr h="1133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async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function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solicitarPosts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 { }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6272A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// ou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solicitarPosts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async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 }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"/>
          <p:cNvSpPr txBox="1"/>
          <p:nvPr>
            <p:ph type="title"/>
          </p:nvPr>
        </p:nvSpPr>
        <p:spPr>
          <a:xfrm>
            <a:off x="839470" y="476885"/>
            <a:ext cx="7129145" cy="102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Async - Await</a:t>
            </a:r>
            <a:endParaRPr/>
          </a:p>
        </p:txBody>
      </p:sp>
      <p:sp>
        <p:nvSpPr>
          <p:cNvPr id="377" name="Google Shape;377;p44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8" name="Google Shape;378;p44"/>
          <p:cNvSpPr/>
          <p:nvPr/>
        </p:nvSpPr>
        <p:spPr>
          <a:xfrm>
            <a:off x="5664200" y="1412875"/>
            <a:ext cx="5792470" cy="2525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44"/>
          <p:cNvSpPr txBox="1"/>
          <p:nvPr/>
        </p:nvSpPr>
        <p:spPr>
          <a:xfrm>
            <a:off x="695960" y="1484630"/>
            <a:ext cx="4065270" cy="469519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resultado é uma sintaxe que se assemelha à escrita síncrona tradicional.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Obtemos o mesmo resultado de antes, mas com uma sintaxe mais clara.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elementos do conjunto </a:t>
            </a:r>
            <a:r>
              <a:rPr b="1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async-await</a:t>
            </a:r>
            <a:r>
              <a:rPr b="0" i="0" lang="pt-BR" sz="2000" u="none" cap="none" strike="noStrike">
                <a:solidFill>
                  <a:schemeClr val="dk1"/>
                </a:solidFill>
                <a:highlight>
                  <a:srgbClr val="EAFF6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funcionam lado a lado um do outro.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Lembremos que é apenas uma ferramenta adicional que pode facilitar a escrever o código.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é obrigatória. </a:t>
            </a:r>
            <a:endParaRPr b="0" i="0" sz="2000" u="none" cap="none" strike="noStrike">
              <a:solidFill>
                <a:schemeClr val="dk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0" name="Google Shape;380;p44"/>
          <p:cNvGraphicFramePr/>
          <p:nvPr/>
        </p:nvGraphicFramePr>
        <p:xfrm>
          <a:off x="4855845" y="10248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{361B0FDE-3513-443E-810B-2E16551E576E}</a:tableStyleId>
              </a:tblPr>
              <a:tblGrid>
                <a:gridCol w="7248525"/>
              </a:tblGrid>
              <a:tr h="439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solicitarPosts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async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await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8BE9F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https://jsonplaceholder.typicode.com/posts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await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resp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json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forEach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((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=&gt;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document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createElement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.innerHTML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= 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"&lt;h2&gt; Usando await &lt;/h2&gt;"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+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&lt;h4&gt;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.title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&lt;/h4&gt;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   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&lt;p&gt;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i="1" lang="pt-BR" sz="2000" u="none" cap="none" strike="noStrike">
                          <a:solidFill>
                            <a:srgbClr val="FFB86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post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.body </a:t>
                      </a:r>
                      <a:r>
                        <a:rPr lang="pt-BR" sz="2000" u="none" cap="none" strike="noStrike">
                          <a:solidFill>
                            <a:srgbClr val="FF79C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pt-BR" sz="2000" u="none" cap="none" strike="noStrike">
                          <a:solidFill>
                            <a:srgbClr val="F1FA8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&lt;/p&gt;</a:t>
                      </a:r>
                      <a:r>
                        <a:rPr lang="pt-BR" sz="2000" u="none" cap="none" strike="noStrike">
                          <a:solidFill>
                            <a:srgbClr val="E9F28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endParaRPr sz="2000" u="none" cap="none" strike="noStrike">
                        <a:solidFill>
                          <a:srgbClr val="F8F8F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    lista.</a:t>
                      </a: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append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</a:t>
                      </a:r>
                      <a:r>
                        <a:rPr lang="pt-BR" sz="2000" u="none" cap="none" strike="noStrike">
                          <a:solidFill>
                            <a:srgbClr val="BD93F9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    })</a:t>
                      </a:r>
                      <a:endParaRPr sz="20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pt-BR" sz="2000" u="none" cap="none" strike="noStrike">
                          <a:solidFill>
                            <a:srgbClr val="50FA7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solicitarPosts</a:t>
                      </a:r>
                      <a:r>
                        <a:rPr lang="pt-BR" sz="2000" u="none" cap="none" strike="noStrike">
                          <a:solidFill>
                            <a:srgbClr val="F8F8F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</a:t>
                      </a:r>
                      <a:endParaRPr sz="2000" u="none" cap="none" strike="noStrike">
                        <a:solidFill>
                          <a:srgbClr val="FF79C6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"/>
          <p:cNvSpPr txBox="1"/>
          <p:nvPr>
            <p:ph type="title"/>
          </p:nvPr>
        </p:nvSpPr>
        <p:spPr>
          <a:xfrm>
            <a:off x="838200" y="387750"/>
            <a:ext cx="10515600" cy="9858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</a:pPr>
            <a:r>
              <a:rPr lang="pt-BR"/>
              <a:t>Referências:</a:t>
            </a:r>
            <a:endParaRPr/>
          </a:p>
        </p:txBody>
      </p:sp>
      <p:sp>
        <p:nvSpPr>
          <p:cNvPr id="386" name="Google Shape;386;p45"/>
          <p:cNvSpPr txBox="1"/>
          <p:nvPr>
            <p:ph idx="12" type="sldNum"/>
          </p:nvPr>
        </p:nvSpPr>
        <p:spPr>
          <a:xfrm>
            <a:off x="11353798" y="5594349"/>
            <a:ext cx="838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87" name="Google Shape;387;p45"/>
          <p:cNvSpPr txBox="1"/>
          <p:nvPr/>
        </p:nvSpPr>
        <p:spPr>
          <a:xfrm>
            <a:off x="756285" y="1670050"/>
            <a:ext cx="8080500" cy="15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 Json Placeholder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Json Placeholder</a:t>
            </a:r>
            <a:endParaRPr b="1" i="0" sz="2800" u="none" cap="none" strike="noStrik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3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b="0" i="0" lang="pt-BR" sz="2800" u="sng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Usando Fetch </a:t>
            </a:r>
            <a:r>
              <a:rPr b="1" i="0" lang="pt-B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| Developer Mozilla</a:t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"/>
          <p:cNvSpPr txBox="1"/>
          <p:nvPr>
            <p:ph type="title"/>
          </p:nvPr>
        </p:nvSpPr>
        <p:spPr>
          <a:xfrm>
            <a:off x="838199" y="2073528"/>
            <a:ext cx="11183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4000"/>
              <a:buFont typeface="Arial"/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pt-BR"/>
              <a:t>5</a:t>
            </a:r>
            <a:br>
              <a:rPr lang="pt-BR">
                <a:latin typeface="Arial"/>
                <a:ea typeface="Arial"/>
                <a:cs typeface="Arial"/>
                <a:sym typeface="Arial"/>
              </a:rPr>
            </a:br>
            <a:r>
              <a:rPr lang="pt-BR"/>
              <a:t>Prof. Lucas Sousa</a:t>
            </a:r>
            <a:endParaRPr/>
          </a:p>
        </p:txBody>
      </p:sp>
      <p:sp>
        <p:nvSpPr>
          <p:cNvPr id="393" name="Google Shape;393;p46"/>
          <p:cNvSpPr txBox="1"/>
          <p:nvPr>
            <p:ph idx="4294967295" type="sldNum"/>
          </p:nvPr>
        </p:nvSpPr>
        <p:spPr>
          <a:xfrm>
            <a:off x="11353800" y="5594350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2024-05-06T00:37:00Z</dcterms:created>
  <dc:creator>Allen Fernando Oberleitner Lima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B96E02AB6EE14174B6F4E9A4A472FBCF_12</vt:lpwstr>
  </property>
  <property fmtid="{D5CDD505-2E9C-101B-9397-08002B2CF9AE}" pid="3" name="KSOProductBuildVer">
    <vt:lpwstr>1046-12.2.0.17562</vt:lpwstr>
  </property>
</Properties>
</file>