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gEhUcL+WUesAzQZaB+G8Cm8wB9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88EA06-BA7D-4813-93E6-CEFF1CFF8F05}">
  <a:tblStyle styleId="{D888EA06-BA7D-4813-93E6-CEFF1CFF8F0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+ Black">
  <p:cSld name="Logo + Black">
    <p:bg>
      <p:bgPr>
        <a:solidFill>
          <a:srgbClr val="1A1C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abeçalho da Seção">
  <p:cSld name="1_Cabeçalho da Seçã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7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7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  <a:defRPr b="0" sz="36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22" name="Google Shape;2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7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b="1"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" name="Google Shape;27;p37"/>
          <p:cNvSpPr txBox="1"/>
          <p:nvPr/>
        </p:nvSpPr>
        <p:spPr>
          <a:xfrm>
            <a:off x="219075" y="6088030"/>
            <a:ext cx="338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Fevereiro 202</a:t>
            </a:r>
            <a:r>
              <a:rPr lang="pt-BR" sz="2000">
                <a:solidFill>
                  <a:srgbClr val="595959"/>
                </a:solidFill>
              </a:rPr>
              <a:t>5</a:t>
            </a:r>
            <a:r>
              <a:rPr b="0" i="0" lang="pt-BR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/ versão 1</a:t>
            </a:r>
            <a:endParaRPr b="0" i="0" sz="2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ogo + Black">
  <p:cSld name="1_Logo + Black">
    <p:bg>
      <p:bgPr>
        <a:solidFill>
          <a:srgbClr val="1A1C1E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8"/>
          <p:cNvSpPr txBox="1"/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  <a:defRPr sz="48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" name="Google Shape;30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7839" y="364886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9100" y="0"/>
            <a:ext cx="11353798" cy="16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9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9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8" name="Google Shape;3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Cabeçalho da Seção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0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6" name="Google Shape;46;p40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b="1" i="0" sz="4800" u="none" cap="none" strike="noStrik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e Conteúdo">
  <p:cSld name="1_Título e Conteúd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gif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developer.mozilla.org/pt-BR/docs/Web/JavaScript/Reference/Statements/async_function" TargetMode="External"/><Relationship Id="rId4" Type="http://schemas.openxmlformats.org/officeDocument/2006/relationships/hyperlink" Target="https://developer.mozilla.org/pt-BR/docs/Web/JavaScript/Reference/Global_Objects/Promise" TargetMode="External"/><Relationship Id="rId5" Type="http://schemas.openxmlformats.org/officeDocument/2006/relationships/hyperlink" Target="https://www.devmedia.com.br/javascript-promise/41205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/>
              <a:t>Engenharia de Software</a:t>
            </a:r>
            <a:endParaRPr/>
          </a:p>
        </p:txBody>
      </p:sp>
      <p:sp>
        <p:nvSpPr>
          <p:cNvPr id="58" name="Google Shape;58;p2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</a:pPr>
            <a:r>
              <a:rPr lang="pt-BR"/>
              <a:t>Web Development with JS</a:t>
            </a:r>
            <a:endParaRPr/>
          </a:p>
        </p:txBody>
      </p:sp>
      <p:sp>
        <p:nvSpPr>
          <p:cNvPr id="59" name="Google Shape;59;p2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</a:pPr>
            <a:r>
              <a:rPr lang="pt-BR"/>
              <a:t>Prof. Lucas Sousa</a:t>
            </a:r>
            <a:endParaRPr/>
          </a:p>
        </p:txBody>
      </p:sp>
      <p:sp>
        <p:nvSpPr>
          <p:cNvPr id="60" name="Google Shape;60;p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838200" y="1046480"/>
            <a:ext cx="10515600" cy="536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400"/>
              <a:buFont typeface="Arial"/>
              <a:buNone/>
            </a:pPr>
            <a:r>
              <a:rPr lang="pt-BR" sz="4400"/>
              <a:t>Assincronia e Promises</a:t>
            </a:r>
            <a:endParaRPr sz="4400"/>
          </a:p>
        </p:txBody>
      </p:sp>
      <p:sp>
        <p:nvSpPr>
          <p:cNvPr id="66" name="Google Shape;66;p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>
            <p:ph type="title"/>
          </p:nvPr>
        </p:nvSpPr>
        <p:spPr>
          <a:xfrm>
            <a:off x="839470" y="476885"/>
            <a:ext cx="10178415" cy="13379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Programação síncrona e assíncrona</a:t>
            </a:r>
            <a:endParaRPr/>
          </a:p>
        </p:txBody>
      </p:sp>
      <p:sp>
        <p:nvSpPr>
          <p:cNvPr id="72" name="Google Shape;72;p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3" name="Google Shape;73;p4"/>
          <p:cNvSpPr txBox="1"/>
          <p:nvPr/>
        </p:nvSpPr>
        <p:spPr>
          <a:xfrm>
            <a:off x="839470" y="1557020"/>
            <a:ext cx="6096000" cy="6229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Síncrona</a:t>
            </a:r>
            <a:endParaRPr b="1" i="0" sz="3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865505" y="2146935"/>
            <a:ext cx="10415905" cy="12979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Neste modelo, nosso programa funciona de forma linear, executando uma ação após a outra. Só podemos realizar uma tarefa por vez, e cada tarefa é bloqueante em relação à próxima.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" name="Google Shape;75;p4"/>
          <p:cNvGrpSpPr/>
          <p:nvPr/>
        </p:nvGrpSpPr>
        <p:grpSpPr>
          <a:xfrm>
            <a:off x="1099820" y="3879215"/>
            <a:ext cx="9102090" cy="1758068"/>
            <a:chOff x="1044500" y="2924325"/>
            <a:chExt cx="5671650" cy="1044483"/>
          </a:xfrm>
        </p:grpSpPr>
        <p:cxnSp>
          <p:nvCxnSpPr>
            <p:cNvPr id="76" name="Google Shape;76;p4"/>
            <p:cNvCxnSpPr>
              <a:stCxn id="77" idx="3"/>
              <a:endCxn id="78" idx="1"/>
            </p:cNvCxnSpPr>
            <p:nvPr/>
          </p:nvCxnSpPr>
          <p:spPr>
            <a:xfrm>
              <a:off x="4351125" y="3441700"/>
              <a:ext cx="1338300" cy="117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cxnSp>
          <p:nvCxnSpPr>
            <p:cNvPr id="79" name="Google Shape;79;p4"/>
            <p:cNvCxnSpPr>
              <a:endCxn id="77" idx="1"/>
            </p:cNvCxnSpPr>
            <p:nvPr/>
          </p:nvCxnSpPr>
          <p:spPr>
            <a:xfrm flipH="1" rot="10800000">
              <a:off x="2054025" y="3441700"/>
              <a:ext cx="1616100" cy="114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80" name="Google Shape;80;p4"/>
            <p:cNvSpPr/>
            <p:nvPr/>
          </p:nvSpPr>
          <p:spPr>
            <a:xfrm>
              <a:off x="1383975" y="3386350"/>
              <a:ext cx="681000" cy="133800"/>
            </a:xfrm>
            <a:prstGeom prst="rect">
              <a:avLst/>
            </a:prstGeom>
            <a:solidFill>
              <a:srgbClr val="E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3670125" y="3374800"/>
              <a:ext cx="681000" cy="133800"/>
            </a:xfrm>
            <a:prstGeom prst="rect">
              <a:avLst/>
            </a:prstGeom>
            <a:solidFill>
              <a:srgbClr val="E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5689500" y="3386350"/>
              <a:ext cx="681000" cy="133800"/>
            </a:xfrm>
            <a:prstGeom prst="rect">
              <a:avLst/>
            </a:prstGeom>
            <a:solidFill>
              <a:srgbClr val="E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"/>
            <p:cNvSpPr txBox="1"/>
            <p:nvPr/>
          </p:nvSpPr>
          <p:spPr>
            <a:xfrm>
              <a:off x="1044500" y="2924325"/>
              <a:ext cx="1469100" cy="327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pt-BR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1ª. solicitação</a:t>
              </a:r>
              <a:endPara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"/>
            <p:cNvSpPr txBox="1"/>
            <p:nvPr/>
          </p:nvSpPr>
          <p:spPr>
            <a:xfrm>
              <a:off x="3276625" y="2924325"/>
              <a:ext cx="1624800" cy="327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pt-BR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2ª. solicitação</a:t>
              </a:r>
              <a:endPara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"/>
            <p:cNvSpPr txBox="1"/>
            <p:nvPr/>
          </p:nvSpPr>
          <p:spPr>
            <a:xfrm>
              <a:off x="5175950" y="3641725"/>
              <a:ext cx="1540200" cy="327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pt-BR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2º. resultado</a:t>
              </a:r>
              <a:endPara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4"/>
            <p:cNvSpPr txBox="1"/>
            <p:nvPr/>
          </p:nvSpPr>
          <p:spPr>
            <a:xfrm>
              <a:off x="3318925" y="3641725"/>
              <a:ext cx="1540200" cy="327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pt-BR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1º. resultado</a:t>
              </a:r>
              <a:endPara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title"/>
          </p:nvPr>
        </p:nvSpPr>
        <p:spPr>
          <a:xfrm>
            <a:off x="839470" y="476885"/>
            <a:ext cx="10178415" cy="13379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Programação síncrona e assíncrona</a:t>
            </a:r>
            <a:endParaRPr/>
          </a:p>
        </p:txBody>
      </p:sp>
      <p:sp>
        <p:nvSpPr>
          <p:cNvPr id="90" name="Google Shape;90;p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1" name="Google Shape;91;p5"/>
          <p:cNvSpPr txBox="1"/>
          <p:nvPr/>
        </p:nvSpPr>
        <p:spPr>
          <a:xfrm>
            <a:off x="839470" y="1557020"/>
            <a:ext cx="6096000" cy="6229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Assíncrona</a:t>
            </a:r>
            <a:endParaRPr b="1" i="0" sz="3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865505" y="2146935"/>
            <a:ext cx="10415905" cy="12979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modelo permite que múltiplas ações aconteçam de uma vez. Ao começar uma ação, nosso programa segue em execução; e quando a ação termina, nosso programa é informado e acessa o resultado correspondente.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5"/>
          <p:cNvGrpSpPr/>
          <p:nvPr/>
        </p:nvGrpSpPr>
        <p:grpSpPr>
          <a:xfrm>
            <a:off x="985520" y="3863340"/>
            <a:ext cx="9501505" cy="2539083"/>
            <a:chOff x="845000" y="2850750"/>
            <a:chExt cx="6142725" cy="1426763"/>
          </a:xfrm>
        </p:grpSpPr>
        <p:sp>
          <p:nvSpPr>
            <p:cNvPr id="94" name="Google Shape;94;p5"/>
            <p:cNvSpPr/>
            <p:nvPr/>
          </p:nvSpPr>
          <p:spPr>
            <a:xfrm>
              <a:off x="1239050" y="3538750"/>
              <a:ext cx="681000" cy="133800"/>
            </a:xfrm>
            <a:prstGeom prst="rect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3857495" y="3538750"/>
              <a:ext cx="562800" cy="133800"/>
            </a:xfrm>
            <a:prstGeom prst="rect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5961579" y="3538750"/>
              <a:ext cx="512100" cy="133800"/>
            </a:xfrm>
            <a:prstGeom prst="rect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1900050" y="3538750"/>
              <a:ext cx="681000" cy="133800"/>
            </a:xfrm>
            <a:prstGeom prst="rect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8" name="Google Shape;98;p5"/>
            <p:cNvCxnSpPr>
              <a:stCxn id="94" idx="2"/>
              <a:endCxn id="95" idx="2"/>
            </p:cNvCxnSpPr>
            <p:nvPr/>
          </p:nvCxnSpPr>
          <p:spPr>
            <a:xfrm flipH="1" rot="-5400000">
              <a:off x="2859050" y="2393050"/>
              <a:ext cx="300" cy="2559300"/>
            </a:xfrm>
            <a:prstGeom prst="bentConnector3">
              <a:avLst>
                <a:gd fmla="val -132533582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" name="Google Shape;99;p5"/>
            <p:cNvCxnSpPr>
              <a:stCxn id="97" idx="0"/>
              <a:endCxn id="96" idx="0"/>
            </p:cNvCxnSpPr>
            <p:nvPr/>
          </p:nvCxnSpPr>
          <p:spPr>
            <a:xfrm flipH="1" rot="-5400000">
              <a:off x="4228950" y="1550350"/>
              <a:ext cx="300" cy="3977100"/>
            </a:xfrm>
            <a:prstGeom prst="bentConnector3">
              <a:avLst>
                <a:gd fmla="val -16736685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0" name="Google Shape;100;p5"/>
            <p:cNvSpPr/>
            <p:nvPr/>
          </p:nvSpPr>
          <p:spPr>
            <a:xfrm>
              <a:off x="2173650" y="3538750"/>
              <a:ext cx="133800" cy="1338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1512650" y="3538750"/>
              <a:ext cx="133800" cy="1338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5"/>
            <p:cNvSpPr txBox="1"/>
            <p:nvPr/>
          </p:nvSpPr>
          <p:spPr>
            <a:xfrm>
              <a:off x="845000" y="3968150"/>
              <a:ext cx="1469100" cy="309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pt-BR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1ª. solicitação</a:t>
              </a:r>
              <a:endPara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5"/>
            <p:cNvSpPr txBox="1"/>
            <p:nvPr/>
          </p:nvSpPr>
          <p:spPr>
            <a:xfrm>
              <a:off x="1428150" y="2850750"/>
              <a:ext cx="1624800" cy="309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pt-BR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2ª. solicitação</a:t>
              </a:r>
              <a:endPara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5"/>
            <p:cNvSpPr txBox="1"/>
            <p:nvPr/>
          </p:nvSpPr>
          <p:spPr>
            <a:xfrm>
              <a:off x="5447525" y="2850750"/>
              <a:ext cx="1540200" cy="309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pt-BR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2º. resultado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5"/>
            <p:cNvSpPr txBox="1"/>
            <p:nvPr/>
          </p:nvSpPr>
          <p:spPr>
            <a:xfrm>
              <a:off x="3368800" y="3968150"/>
              <a:ext cx="1540200" cy="309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pt-BR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1º. resultado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>
            <p:ph type="title"/>
          </p:nvPr>
        </p:nvSpPr>
        <p:spPr>
          <a:xfrm>
            <a:off x="839470" y="476885"/>
            <a:ext cx="10178415" cy="13379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Então…Se quiser fazer duas solicitações </a:t>
            </a:r>
            <a:endParaRPr/>
          </a:p>
        </p:txBody>
      </p:sp>
      <p:sp>
        <p:nvSpPr>
          <p:cNvPr id="111" name="Google Shape;111;p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1572260" y="2720340"/>
            <a:ext cx="2882900" cy="46418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Modelo Síncrono</a:t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847840" y="2720340"/>
            <a:ext cx="3219450" cy="46418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Modelo Assíncrono</a:t>
            </a:r>
            <a:endParaRPr b="1" i="0" sz="2400" u="none" cap="none" strike="noStrike">
              <a:solidFill>
                <a:srgbClr val="000000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984885" y="3644900"/>
            <a:ext cx="4308475" cy="186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segunda solicitação seria iniciada somente quando a primeira terminar. Temos o resultado de ambas após a finalização da segunda.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385560" y="3429000"/>
            <a:ext cx="3994150" cy="240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Ambas as solicitações podem ser realizadas em paralelo, só precisamos sincronizar os resultados ao terminarem.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9470" y="476885"/>
            <a:ext cx="772668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Programação Assíncrona</a:t>
            </a:r>
            <a:endParaRPr/>
          </a:p>
        </p:txBody>
      </p:sp>
      <p:sp>
        <p:nvSpPr>
          <p:cNvPr id="121" name="Google Shape;121;p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2" name="Google Shape;122;p7"/>
          <p:cNvSpPr txBox="1"/>
          <p:nvPr/>
        </p:nvSpPr>
        <p:spPr>
          <a:xfrm>
            <a:off x="729615" y="1527175"/>
            <a:ext cx="10438130" cy="27666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👍 Uma das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principais vantagens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modelo assíncrono: facilita a manipulação de sistemas que realizam múltiplas ações de uma vez.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✋ Um de seus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principais riscos: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pode dificultar a compreensão daqueles programas que tendem a seguir uma única linha de ação.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839470" y="476885"/>
            <a:ext cx="772668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setTimeout</a:t>
            </a:r>
            <a:endParaRPr/>
          </a:p>
        </p:txBody>
      </p:sp>
      <p:sp>
        <p:nvSpPr>
          <p:cNvPr id="128" name="Google Shape;128;p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9" name="Google Shape;129;p8"/>
          <p:cNvSpPr txBox="1"/>
          <p:nvPr/>
        </p:nvSpPr>
        <p:spPr>
          <a:xfrm>
            <a:off x="911860" y="1557020"/>
            <a:ext cx="5467350" cy="4003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uma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função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permite realizar ações assincronicamente 🤹. A função recebe dois parâmetros, uma função de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callback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um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valor numérico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 representa milissegundos: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quer dizer que a função que passamos como primeiro parâmetro é executada após transcorrer o tempo definido no segundo parâmetro. Por exemplo: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0" name="Google Shape;130;p8"/>
          <p:cNvGraphicFramePr/>
          <p:nvPr/>
        </p:nvGraphicFramePr>
        <p:xfrm>
          <a:off x="7247890" y="24695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{D888EA06-BA7D-4813-93E6-CEFF1CFF8F05}</a:tableStyleId>
              </a:tblPr>
              <a:tblGrid>
                <a:gridCol w="4175125"/>
              </a:tblGrid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setTimeout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(fn, time)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1" name="Google Shape;131;p8"/>
          <p:cNvGraphicFramePr/>
          <p:nvPr/>
        </p:nvGraphicFramePr>
        <p:xfrm>
          <a:off x="6553200" y="37166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{D888EA06-BA7D-4813-93E6-CEFF1CFF8F05}</a:tableStyleId>
              </a:tblPr>
              <a:tblGrid>
                <a:gridCol w="5589900"/>
              </a:tblGrid>
              <a:tr h="134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setTimeout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Processo assíncrono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/>
          <p:nvPr>
            <p:ph type="title"/>
          </p:nvPr>
        </p:nvSpPr>
        <p:spPr>
          <a:xfrm>
            <a:off x="839470" y="476885"/>
            <a:ext cx="772668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setTimeout</a:t>
            </a:r>
            <a:endParaRPr/>
          </a:p>
        </p:txBody>
      </p:sp>
      <p:sp>
        <p:nvSpPr>
          <p:cNvPr id="137" name="Google Shape;137;p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8" name="Google Shape;138;p9"/>
          <p:cNvSpPr txBox="1"/>
          <p:nvPr/>
        </p:nvSpPr>
        <p:spPr>
          <a:xfrm>
            <a:off x="768350" y="1485265"/>
            <a:ext cx="6387465" cy="49980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 síncrono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esperaríamos ver o exemplo sendo executado nesta ordem: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“Início do processo”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“Meio do processo” (após 2 segundos)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“Fim do processo”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entanto, a saída é produzida da seguinte forma: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acontece porque a função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setTimeout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 de forma assíncrona. É por isso que os dois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console.log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são executados antes e só depois vemos o resultado da setTimeout que se posiciona entre eles.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9" name="Google Shape;139;p9"/>
          <p:cNvGraphicFramePr/>
          <p:nvPr/>
        </p:nvGraphicFramePr>
        <p:xfrm>
          <a:off x="6908800" y="162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{D888EA06-BA7D-4813-93E6-CEFF1CFF8F05}</a:tableStyleId>
              </a:tblPr>
              <a:tblGrid>
                <a:gridCol w="5184150"/>
              </a:tblGrid>
              <a:tr h="286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1 - Início do processo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setTimeout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2 - Meio do processo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3 - Fim do processo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rgbClr val="8BE9FD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pic>
        <p:nvPicPr>
          <p:cNvPr id="140" name="Google Shape;1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9690" y="4725035"/>
            <a:ext cx="3129280" cy="880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/>
          <p:nvPr>
            <p:ph type="title"/>
          </p:nvPr>
        </p:nvSpPr>
        <p:spPr>
          <a:xfrm>
            <a:off x="839470" y="476885"/>
            <a:ext cx="772668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setTimeout</a:t>
            </a:r>
            <a:endParaRPr/>
          </a:p>
        </p:txBody>
      </p:sp>
      <p:sp>
        <p:nvSpPr>
          <p:cNvPr id="146" name="Google Shape;146;p1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7" name="Google Shape;147;p10"/>
          <p:cNvSpPr txBox="1"/>
          <p:nvPr/>
        </p:nvSpPr>
        <p:spPr>
          <a:xfrm>
            <a:off x="839470" y="1700530"/>
            <a:ext cx="4627880" cy="12890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Podemos ajustar um elemento DOM após um evento e remover uma classe após certo tempo: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8" name="Google Shape;148;p10"/>
          <p:cNvGraphicFramePr/>
          <p:nvPr/>
        </p:nvGraphicFramePr>
        <p:xfrm>
          <a:off x="6527800" y="6915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{D888EA06-BA7D-4813-93E6-CEFF1CFF8F05}</a:tableStyleId>
              </a:tblPr>
              <a:tblGrid>
                <a:gridCol w="4715500"/>
              </a:tblGrid>
              <a:tr h="378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.popup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display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none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width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250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px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height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px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position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absolute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text-align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center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vertical-align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middle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background-color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burlywood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.popup-active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display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>
                        <a:solidFill>
                          <a:srgbClr val="BD93F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9" name="Google Shape;149;p10"/>
          <p:cNvGraphicFramePr/>
          <p:nvPr/>
        </p:nvGraphicFramePr>
        <p:xfrm>
          <a:off x="5582285" y="48691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{D888EA06-BA7D-4813-93E6-CEFF1CFF8F05}</a:tableStyleId>
              </a:tblPr>
              <a:tblGrid>
                <a:gridCol w="5693400"/>
              </a:tblGrid>
              <a:tr h="134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button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botao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&gt;Clique Aqui&lt;/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button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popup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popup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&lt;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&gt;Atenção! Site em manutenção&lt;/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i="1" sz="2000" u="none" cap="none" strike="noStrike">
                        <a:solidFill>
                          <a:srgbClr val="50FA7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title"/>
          </p:nvPr>
        </p:nvSpPr>
        <p:spPr>
          <a:xfrm>
            <a:off x="839470" y="476885"/>
            <a:ext cx="772668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setTimeout</a:t>
            </a:r>
            <a:endParaRPr/>
          </a:p>
        </p:txBody>
      </p:sp>
      <p:sp>
        <p:nvSpPr>
          <p:cNvPr id="155" name="Google Shape;155;p1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6" name="Google Shape;156;p11"/>
          <p:cNvSpPr txBox="1"/>
          <p:nvPr/>
        </p:nvSpPr>
        <p:spPr>
          <a:xfrm>
            <a:off x="845185" y="1567815"/>
            <a:ext cx="4267835" cy="39763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Aqui, uma classe é adicionada a um elemento após detectar o clique em um botão, e esse clique dispara um setTimeout que remove essa classe do elemento após 2500 milissegundos. É uma forma de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automatizar um evento interativo.</a:t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7" name="Google Shape;157;p11"/>
          <p:cNvGraphicFramePr/>
          <p:nvPr/>
        </p:nvGraphicFramePr>
        <p:xfrm>
          <a:off x="544703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{D888EA06-BA7D-4813-93E6-CEFF1CFF8F05}</a:tableStyleId>
              </a:tblPr>
              <a:tblGrid>
                <a:gridCol w="6605275"/>
              </a:tblGrid>
              <a:tr h="347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btn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getElementById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botao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popup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getElementById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popup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btn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addEventListener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click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()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popup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classList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popup-active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setTimeout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popup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classList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remove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popup-active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2500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i="1" sz="2000" u="none" cap="none" strike="noStrike">
                        <a:solidFill>
                          <a:srgbClr val="50FA7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>
            <p:ph type="title"/>
          </p:nvPr>
        </p:nvSpPr>
        <p:spPr>
          <a:xfrm>
            <a:off x="839470" y="476885"/>
            <a:ext cx="772668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setTimeout</a:t>
            </a:r>
            <a:endParaRPr/>
          </a:p>
        </p:txBody>
      </p:sp>
      <p:sp>
        <p:nvSpPr>
          <p:cNvPr id="163" name="Google Shape;163;p1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4" name="Google Shape;164;p12"/>
          <p:cNvSpPr txBox="1"/>
          <p:nvPr/>
        </p:nvSpPr>
        <p:spPr>
          <a:xfrm>
            <a:off x="839470" y="1341120"/>
            <a:ext cx="7378700" cy="17252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casos simples associados a eventos, o que vimos no exemplo anterior pode ser muito conveniente.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entanto, o problema aparece quando vamos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combinar de forma complexa os dois tipos de processos.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57540" y="-27305"/>
            <a:ext cx="3934460" cy="68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2"/>
          <p:cNvSpPr txBox="1"/>
          <p:nvPr/>
        </p:nvSpPr>
        <p:spPr>
          <a:xfrm>
            <a:off x="839470" y="3145790"/>
            <a:ext cx="7162800" cy="7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forma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síncrona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esperamos ver um console.log de cada letra de ambas as strings na vertical, uma após a outra: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7" name="Google Shape;167;p12"/>
          <p:cNvGraphicFramePr/>
          <p:nvPr/>
        </p:nvGraphicFramePr>
        <p:xfrm>
          <a:off x="911860" y="4021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{D888EA06-BA7D-4813-93E6-CEFF1CFF8F05}</a:tableStyleId>
              </a:tblPr>
              <a:tblGrid>
                <a:gridCol w="4498975"/>
              </a:tblGrid>
              <a:tr h="2473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letra </a:t>
                      </a:r>
                      <a:r>
                        <a:rPr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2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2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olá</a:t>
                      </a:r>
                      <a:r>
                        <a:rPr lang="pt-BR" sz="22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2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(letra)</a:t>
                      </a:r>
                      <a:endParaRPr sz="2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br>
                        <a:rPr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letra </a:t>
                      </a:r>
                      <a:r>
                        <a:rPr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2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2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mundo</a:t>
                      </a:r>
                      <a:r>
                        <a:rPr lang="pt-BR" sz="22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2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(letra)</a:t>
                      </a:r>
                      <a:endParaRPr sz="2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2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pic>
        <p:nvPicPr>
          <p:cNvPr id="168" name="Google Shape;16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1265" y="3916680"/>
            <a:ext cx="835660" cy="2887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/>
          <p:nvPr>
            <p:ph type="title"/>
          </p:nvPr>
        </p:nvSpPr>
        <p:spPr>
          <a:xfrm>
            <a:off x="839470" y="476885"/>
            <a:ext cx="935228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11111"/>
              <a:buFont typeface="Arial"/>
              <a:buNone/>
            </a:pPr>
            <a:r>
              <a:rPr lang="pt-BR"/>
              <a:t>Exemplo de aplicação de setTimeout</a:t>
            </a:r>
            <a:endParaRPr/>
          </a:p>
        </p:txBody>
      </p:sp>
      <p:sp>
        <p:nvSpPr>
          <p:cNvPr id="174" name="Google Shape;174;p1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5" name="Google Shape;175;p13"/>
          <p:cNvSpPr txBox="1"/>
          <p:nvPr/>
        </p:nvSpPr>
        <p:spPr>
          <a:xfrm>
            <a:off x="657785" y="1636125"/>
            <a:ext cx="4274400" cy="42443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O que acontece quando acrescentamos um setTimeout a cada console.log dentro dos iteradores?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👀 O iterador executa de forma síncrona as chamadas ao setTimeout por cada letra, e elas são resolvidas em ordem com o delay correspondente de forma assíncrona: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6" name="Google Shape;176;p13"/>
          <p:cNvGraphicFramePr/>
          <p:nvPr/>
        </p:nvGraphicFramePr>
        <p:xfrm>
          <a:off x="5015865" y="17856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{D888EA06-BA7D-4813-93E6-CEFF1CFF8F05}</a:tableStyleId>
              </a:tblPr>
              <a:tblGrid>
                <a:gridCol w="4142750"/>
              </a:tblGrid>
              <a:tr h="3598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letra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olá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setTimeout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(()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(letra)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},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1000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letra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mundo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setTimeout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(()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(letra)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},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3000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b="0"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pic>
        <p:nvPicPr>
          <p:cNvPr id="177" name="Google Shape;17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97670" y="1772920"/>
            <a:ext cx="2757170" cy="3551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/>
          <p:nvPr>
            <p:ph type="title"/>
          </p:nvPr>
        </p:nvSpPr>
        <p:spPr>
          <a:xfrm>
            <a:off x="839470" y="476885"/>
            <a:ext cx="935228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Call Stack (pilha)</a:t>
            </a:r>
            <a:endParaRPr/>
          </a:p>
        </p:txBody>
      </p:sp>
      <p:sp>
        <p:nvSpPr>
          <p:cNvPr id="183" name="Google Shape;183;p1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4" name="Google Shape;184;p14"/>
          <p:cNvSpPr txBox="1"/>
          <p:nvPr/>
        </p:nvSpPr>
        <p:spPr>
          <a:xfrm>
            <a:off x="840740" y="1412875"/>
            <a:ext cx="7111365" cy="272351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uma lista em que se empilham as diversas tarefas a serem executadas por nosso programa. O JavaScript é uma linguagem single-threaded, o que significa que ela tem uma única stack ou pilha de execução. Com isso,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fica implícito que sua execução é síncrona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4"/>
          <p:cNvSpPr txBox="1"/>
          <p:nvPr/>
        </p:nvSpPr>
        <p:spPr>
          <a:xfrm>
            <a:off x="840105" y="4221480"/>
            <a:ext cx="6665595" cy="22847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é o processo de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 Stack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 📞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se está prestes a executar uma função, ela é adicionada à stack.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sua vez, se a função chama outra função, esta última é adicionada sobre a anterior.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6" name="Google Shape;186;p14"/>
          <p:cNvGraphicFramePr/>
          <p:nvPr/>
        </p:nvGraphicFramePr>
        <p:xfrm>
          <a:off x="7952105" y="19157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{D888EA06-BA7D-4813-93E6-CEFF1CFF8F05}</a:tableStyleId>
              </a:tblPr>
              <a:tblGrid>
                <a:gridCol w="4041775"/>
              </a:tblGrid>
              <a:tr h="3181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multiply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printSquare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multiply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printSquare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/>
          <p:nvPr>
            <p:ph type="title"/>
          </p:nvPr>
        </p:nvSpPr>
        <p:spPr>
          <a:xfrm>
            <a:off x="839470" y="476885"/>
            <a:ext cx="935228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Call Stack (pilha)</a:t>
            </a:r>
            <a:endParaRPr/>
          </a:p>
        </p:txBody>
      </p:sp>
      <p:sp>
        <p:nvSpPr>
          <p:cNvPr id="192" name="Google Shape;192;p1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983565" y="1413110"/>
            <a:ext cx="7644300" cy="6121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</a:t>
            </a:r>
            <a:r>
              <a:rPr b="1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estados </a:t>
            </a: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 Call Stack são: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723265" y="5113655"/>
            <a:ext cx="10513695" cy="14547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uma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lista do JavaScript com as tarefas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serem executadas durante o funcionamento de nosso programa 📝. Cada nova instrução é adicionada à stack na ordem correspondente, e a engine do JS resolve uma de cada vez.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" name="Google Shape;195;p15"/>
          <p:cNvGrpSpPr/>
          <p:nvPr/>
        </p:nvGrpSpPr>
        <p:grpSpPr>
          <a:xfrm>
            <a:off x="725805" y="2171700"/>
            <a:ext cx="11102975" cy="2686685"/>
            <a:chOff x="853400" y="1392000"/>
            <a:chExt cx="7437200" cy="2124600"/>
          </a:xfrm>
        </p:grpSpPr>
        <p:cxnSp>
          <p:nvCxnSpPr>
            <p:cNvPr id="196" name="Google Shape;196;p15"/>
            <p:cNvCxnSpPr>
              <a:endCxn id="197" idx="1"/>
            </p:cNvCxnSpPr>
            <p:nvPr/>
          </p:nvCxnSpPr>
          <p:spPr>
            <a:xfrm>
              <a:off x="2165200" y="2631000"/>
              <a:ext cx="4813500" cy="0"/>
            </a:xfrm>
            <a:prstGeom prst="straightConnector1">
              <a:avLst/>
            </a:prstGeom>
            <a:noFill/>
            <a:ln cap="flat" cmpd="sng" w="19050">
              <a:solidFill>
                <a:srgbClr val="B7B7B7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98" name="Google Shape;198;p15"/>
            <p:cNvSpPr/>
            <p:nvPr/>
          </p:nvSpPr>
          <p:spPr>
            <a:xfrm>
              <a:off x="853400" y="1745400"/>
              <a:ext cx="1311900" cy="1771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925700" y="3132800"/>
              <a:ext cx="1167300" cy="279600"/>
            </a:xfrm>
            <a:prstGeom prst="roundRect">
              <a:avLst>
                <a:gd fmla="val 16667" name="adj"/>
              </a:avLst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pt-BR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printSquare(5)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2384725" y="1745400"/>
              <a:ext cx="1311900" cy="1771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3916050" y="1745400"/>
              <a:ext cx="1311900" cy="1771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5447375" y="1745400"/>
              <a:ext cx="1311900" cy="1771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6978700" y="1745400"/>
              <a:ext cx="1311900" cy="1771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2457025" y="3132800"/>
              <a:ext cx="1167300" cy="279600"/>
            </a:xfrm>
            <a:prstGeom prst="roundRect">
              <a:avLst>
                <a:gd fmla="val 16667" name="adj"/>
              </a:avLst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pt-BR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printSquare(5)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2457026" y="2777625"/>
              <a:ext cx="1167300" cy="279600"/>
            </a:xfrm>
            <a:prstGeom prst="roundRect">
              <a:avLst>
                <a:gd fmla="val 16667" name="adj"/>
              </a:avLst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pt-BR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multiply(x, x)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5"/>
            <p:cNvSpPr/>
            <p:nvPr/>
          </p:nvSpPr>
          <p:spPr>
            <a:xfrm>
              <a:off x="3988350" y="3132800"/>
              <a:ext cx="1167300" cy="279600"/>
            </a:xfrm>
            <a:prstGeom prst="roundRect">
              <a:avLst>
                <a:gd fmla="val 16667" name="adj"/>
              </a:avLst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pt-BR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printSquare(5)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5"/>
            <p:cNvSpPr/>
            <p:nvPr/>
          </p:nvSpPr>
          <p:spPr>
            <a:xfrm>
              <a:off x="3988351" y="2777625"/>
              <a:ext cx="1167300" cy="279600"/>
            </a:xfrm>
            <a:prstGeom prst="roundRect">
              <a:avLst>
                <a:gd fmla="val 16667" name="adj"/>
              </a:avLst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pt-BR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console.log(s)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5"/>
            <p:cNvSpPr/>
            <p:nvPr/>
          </p:nvSpPr>
          <p:spPr>
            <a:xfrm>
              <a:off x="5519675" y="3132800"/>
              <a:ext cx="1167300" cy="279600"/>
            </a:xfrm>
            <a:prstGeom prst="roundRect">
              <a:avLst>
                <a:gd fmla="val 16667" name="adj"/>
              </a:avLst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pt-BR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printSquare(5)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5"/>
            <p:cNvSpPr txBox="1"/>
            <p:nvPr/>
          </p:nvSpPr>
          <p:spPr>
            <a:xfrm>
              <a:off x="853400" y="1392000"/>
              <a:ext cx="1311900" cy="3379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pt-BR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Passo 1</a:t>
              </a:r>
              <a:endPara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5"/>
            <p:cNvSpPr txBox="1"/>
            <p:nvPr/>
          </p:nvSpPr>
          <p:spPr>
            <a:xfrm>
              <a:off x="2384725" y="1392000"/>
              <a:ext cx="1311900" cy="3379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pt-BR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Passo 2</a:t>
              </a:r>
              <a:endPara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5"/>
            <p:cNvSpPr txBox="1"/>
            <p:nvPr/>
          </p:nvSpPr>
          <p:spPr>
            <a:xfrm>
              <a:off x="3916050" y="1392000"/>
              <a:ext cx="1311900" cy="3379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pt-BR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Passo 3</a:t>
              </a:r>
              <a:endPara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5"/>
            <p:cNvSpPr txBox="1"/>
            <p:nvPr/>
          </p:nvSpPr>
          <p:spPr>
            <a:xfrm>
              <a:off x="5447375" y="1392000"/>
              <a:ext cx="1311900" cy="3379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pt-BR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Passo 4</a:t>
              </a:r>
              <a:endPara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5"/>
            <p:cNvSpPr txBox="1"/>
            <p:nvPr/>
          </p:nvSpPr>
          <p:spPr>
            <a:xfrm>
              <a:off x="6978700" y="1392000"/>
              <a:ext cx="1311900" cy="3379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pt-BR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Passo 5</a:t>
              </a:r>
              <a:endPara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"/>
          <p:cNvSpPr txBox="1"/>
          <p:nvPr>
            <p:ph type="title"/>
          </p:nvPr>
        </p:nvSpPr>
        <p:spPr>
          <a:xfrm>
            <a:off x="839470" y="476885"/>
            <a:ext cx="935228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Event Loop</a:t>
            </a:r>
            <a:endParaRPr/>
          </a:p>
        </p:txBody>
      </p:sp>
      <p:sp>
        <p:nvSpPr>
          <p:cNvPr id="218" name="Google Shape;218;p1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688975" y="1341120"/>
            <a:ext cx="5878830" cy="53028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Muitas das funções assíncronas são executadas em uma stack diferente. O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Event Loop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a ferramenta que permite a sincronização entre nossa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callstack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essas tarefas assíncronas que funcionam em uma thread à parte.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a stack estiver vazia, o Event Loop envia a primeira função que estiver na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callback queue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à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 stack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ser executada.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Mesmo que configuremos o timeout com 0 milissegundos, ele ainda é enviado à stack de web APIs primeiro, depois ao callback queue e, por último, o event loop o incorpora à call stack para sua execução após os console.log anteriores.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0" name="Google Shape;220;p16"/>
          <p:cNvGraphicFramePr/>
          <p:nvPr/>
        </p:nvGraphicFramePr>
        <p:xfrm>
          <a:off x="6871970" y="6927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{D888EA06-BA7D-4813-93E6-CEFF1CFF8F05}</a:tableStyleId>
              </a:tblPr>
              <a:tblGrid>
                <a:gridCol w="5189225"/>
              </a:tblGrid>
              <a:tr h="2623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1 - Início do processo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setTimeout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2 - Meio do processo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3 - Fim do processo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pic>
        <p:nvPicPr>
          <p:cNvPr id="221" name="Google Shape;2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9825" y="3644900"/>
            <a:ext cx="3212465" cy="1242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"/>
          <p:cNvSpPr txBox="1"/>
          <p:nvPr>
            <p:ph type="title"/>
          </p:nvPr>
        </p:nvSpPr>
        <p:spPr>
          <a:xfrm>
            <a:off x="839470" y="476885"/>
            <a:ext cx="935228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setInterval</a:t>
            </a:r>
            <a:endParaRPr/>
          </a:p>
        </p:txBody>
      </p:sp>
      <p:sp>
        <p:nvSpPr>
          <p:cNvPr id="227" name="Google Shape;227;p1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767715" y="1628775"/>
            <a:ext cx="5564505" cy="34061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 a mesma sintaxe que o setTimeout, mas a unidade de tempo é o intervalo até uma nova solicitação da função associada.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executar funções de forma reiterativa após os milissegundos indicados até que determinemos sua pausa ou a aplicação web seja fechada.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9" name="Google Shape;229;p17"/>
          <p:cNvGraphicFramePr/>
          <p:nvPr/>
        </p:nvGraphicFramePr>
        <p:xfrm>
          <a:off x="7392035" y="141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{D888EA06-BA7D-4813-93E6-CEFF1CFF8F05}</a:tableStyleId>
              </a:tblPr>
              <a:tblGrid>
                <a:gridCol w="4645650"/>
              </a:tblGrid>
              <a:tr h="134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setInterval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Tic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rgbClr val="BD93F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pic>
        <p:nvPicPr>
          <p:cNvPr id="230" name="Google Shape;230;p17"/>
          <p:cNvPicPr preferRelativeResize="0"/>
          <p:nvPr/>
        </p:nvPicPr>
        <p:blipFill rotWithShape="1">
          <a:blip r:embed="rId3">
            <a:alphaModFix/>
          </a:blip>
          <a:srcRect b="53338" l="0" r="0" t="0"/>
          <a:stretch/>
        </p:blipFill>
        <p:spPr>
          <a:xfrm>
            <a:off x="7320280" y="3068955"/>
            <a:ext cx="4795520" cy="2129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 txBox="1"/>
          <p:nvPr>
            <p:ph type="title"/>
          </p:nvPr>
        </p:nvSpPr>
        <p:spPr>
          <a:xfrm>
            <a:off x="839470" y="476885"/>
            <a:ext cx="935228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clearInterval &amp; clearTimeout</a:t>
            </a:r>
            <a:endParaRPr/>
          </a:p>
        </p:txBody>
      </p:sp>
      <p:sp>
        <p:nvSpPr>
          <p:cNvPr id="236" name="Google Shape;236;p1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839470" y="1412875"/>
            <a:ext cx="4311650" cy="19316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quiser remover um Intervalo, utilizamos a função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clearInterval()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Também podemos interromper a execução de um setTimeout invocando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clearTimeout ()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840105" y="3285490"/>
            <a:ext cx="4525010" cy="26587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chamamos um setInterval(), ele retorna uma referência ao intervalo gerado, o qual podemos armazenar em uma variável. É essa referência que devemos passar à função clearInterval para que a limpeza tenha efeito.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9" name="Google Shape;239;p18"/>
          <p:cNvGraphicFramePr/>
          <p:nvPr/>
        </p:nvGraphicFramePr>
        <p:xfrm>
          <a:off x="5347970" y="14135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{D888EA06-BA7D-4813-93E6-CEFF1CFF8F05}</a:tableStyleId>
              </a:tblPr>
              <a:tblGrid>
                <a:gridCol w="6699875"/>
              </a:tblGrid>
              <a:tr h="321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counter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interval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setInterval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counter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++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Counter: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counter)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(counter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clearInterval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interval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 intervalo foi removido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rgbClr val="8BE9FD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pic>
        <p:nvPicPr>
          <p:cNvPr id="240" name="Google Shape;2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1840" y="4714240"/>
            <a:ext cx="3088640" cy="2075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"/>
          <p:cNvSpPr txBox="1"/>
          <p:nvPr>
            <p:ph type="title"/>
          </p:nvPr>
        </p:nvSpPr>
        <p:spPr>
          <a:xfrm>
            <a:off x="839470" y="476885"/>
            <a:ext cx="935228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clearInterval &amp; clearTimeout</a:t>
            </a:r>
            <a:endParaRPr/>
          </a:p>
        </p:txBody>
      </p:sp>
      <p:sp>
        <p:nvSpPr>
          <p:cNvPr id="246" name="Google Shape;246;p1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839470" y="1700530"/>
            <a:ext cx="5261610" cy="3152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mesmo vale para os timeouts. Se armazenarmos a referência ao timeout gerado em uma variável, podemos usá-la para removê-lo posteriormente. Neste caso, o timeout gerado nunca chega a ser executado.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8" name="Google Shape;248;p19"/>
          <p:cNvGraphicFramePr/>
          <p:nvPr/>
        </p:nvGraphicFramePr>
        <p:xfrm>
          <a:off x="7536180" y="13404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{D888EA06-BA7D-4813-93E6-CEFF1CFF8F05}</a:tableStyleId>
              </a:tblPr>
              <a:tblGrid>
                <a:gridCol w="4409450"/>
              </a:tblGrid>
              <a:tr h="256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Início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setTimeout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Fim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clearTimeout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0"/>
          <p:cNvSpPr txBox="1"/>
          <p:nvPr>
            <p:ph type="title"/>
          </p:nvPr>
        </p:nvSpPr>
        <p:spPr>
          <a:xfrm>
            <a:off x="839470" y="476885"/>
            <a:ext cx="935228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 que é uma promise em JS</a:t>
            </a:r>
            <a:endParaRPr/>
          </a:p>
        </p:txBody>
      </p:sp>
      <p:sp>
        <p:nvSpPr>
          <p:cNvPr id="254" name="Google Shape;254;p2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767715" y="1501775"/>
            <a:ext cx="6321425" cy="314071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 objeto do JavaScript que representa um evento futuro.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uma ação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assíncrona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 pode se completar em algum momento, produzir um valor e nos notificar quando isso acontecer.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promessa conta com três estados possíveis: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pending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fulfilled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reJected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promessas podem ser resolvidas ou rejeitadas.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839470" y="4725035"/>
            <a:ext cx="6873240" cy="172021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Podemos criar promessas através de seu construtor new Promise.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Sua sintaxe é complexa, já que recebe uma função por parâmetro, e esta função também recebe outras funções por parâmetro, a resolve e a reject.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7" name="Google Shape;257;p20"/>
          <p:cNvGraphicFramePr/>
          <p:nvPr/>
        </p:nvGraphicFramePr>
        <p:xfrm>
          <a:off x="7101840" y="27806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{D888EA06-BA7D-4813-93E6-CEFF1CFF8F05}</a:tableStyleId>
              </a:tblPr>
              <a:tblGrid>
                <a:gridCol w="5018400"/>
              </a:tblGrid>
              <a:tr h="132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Promise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resolve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reject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//corpo da promessa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})</a:t>
                      </a:r>
                      <a:endParaRPr sz="2000" u="none" cap="none" strike="noStrike">
                        <a:solidFill>
                          <a:srgbClr val="BD93F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"/>
          <p:cNvSpPr txBox="1"/>
          <p:nvPr>
            <p:ph type="title"/>
          </p:nvPr>
        </p:nvSpPr>
        <p:spPr>
          <a:xfrm>
            <a:off x="839470" y="476885"/>
            <a:ext cx="935228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Resolve &amp; Reject</a:t>
            </a:r>
            <a:endParaRPr/>
          </a:p>
        </p:txBody>
      </p:sp>
      <p:sp>
        <p:nvSpPr>
          <p:cNvPr id="263" name="Google Shape;263;p2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95960" y="1412875"/>
            <a:ext cx="5822950" cy="21564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princípio, uma promessa retorna com estado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pending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entendendo que o valor a ser gerado ainda não foi resolvido.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 função retorna uma promessa que não se resolve. Portanto, veremos que o valor que gera é um objeto Promise em estado pendente.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695960" y="3860800"/>
            <a:ext cx="6254750" cy="2771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valor de retorno da promessa se define através da chamada das funções resolve ou reject: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✓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o corpo da promessa chamar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resolve()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promessa mudará seu estado para fulfilled, com o valor enviado à resolve().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✓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a promessa chamar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 reject(),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mudará seu estado para rejected, com o valor enviado à reject().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6" name="Google Shape;266;p21"/>
          <p:cNvGraphicFramePr/>
          <p:nvPr/>
        </p:nvGraphicFramePr>
        <p:xfrm>
          <a:off x="6941820" y="6216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{D888EA06-BA7D-4813-93E6-CEFF1CFF8F05}</a:tableStyleId>
              </a:tblPr>
              <a:tblGrid>
                <a:gridCol w="5079375"/>
              </a:tblGrid>
              <a:tr h="265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eventoFuturo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Promise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resolve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reject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//corpo da promessa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eventoFuturo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())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Promise {&lt;pending&gt;}</a:t>
                      </a:r>
                      <a:endParaRPr b="1"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pic>
        <p:nvPicPr>
          <p:cNvPr id="267" name="Google Shape;26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5530" y="3429000"/>
            <a:ext cx="3843655" cy="320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"/>
          <p:cNvSpPr txBox="1"/>
          <p:nvPr>
            <p:ph type="title"/>
          </p:nvPr>
        </p:nvSpPr>
        <p:spPr>
          <a:xfrm>
            <a:off x="981708" y="29035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Exemplo: Resolve &amp; Reject</a:t>
            </a:r>
            <a:endParaRPr/>
          </a:p>
        </p:txBody>
      </p:sp>
      <p:sp>
        <p:nvSpPr>
          <p:cNvPr id="273" name="Google Shape;273;p2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479425" y="1340485"/>
            <a:ext cx="10682605" cy="31978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Podemos ver como o estado da promessa muda com diferentes valores. </a:t>
            </a:r>
            <a:endParaRPr b="0" i="0" sz="2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De acordo com a chamada da função, a promessa será resolvida ou rejeitada. </a:t>
            </a:r>
            <a:endParaRPr b="0" i="0" sz="2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 entanto, o que vemos por console é o objeto Promise retornado pela função, mas o que nos interessa é o valor de resolução da promessa. </a:t>
            </a:r>
            <a:endParaRPr b="0" i="0" sz="2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" name="Google Shape;275;p22"/>
          <p:cNvGrpSpPr/>
          <p:nvPr/>
        </p:nvGrpSpPr>
        <p:grpSpPr>
          <a:xfrm>
            <a:off x="186055" y="332740"/>
            <a:ext cx="687070" cy="687070"/>
            <a:chOff x="473351" y="619523"/>
            <a:chExt cx="738900" cy="738900"/>
          </a:xfrm>
        </p:grpSpPr>
        <p:sp>
          <p:nvSpPr>
            <p:cNvPr id="276" name="Google Shape;276;p22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7" name="Google Shape;277;p22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3"/>
          <p:cNvSpPr txBox="1"/>
          <p:nvPr>
            <p:ph type="title"/>
          </p:nvPr>
        </p:nvSpPr>
        <p:spPr>
          <a:xfrm>
            <a:off x="981708" y="29035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Exemplo: Resolve &amp; Reject</a:t>
            </a:r>
            <a:endParaRPr/>
          </a:p>
        </p:txBody>
      </p:sp>
      <p:sp>
        <p:nvSpPr>
          <p:cNvPr id="283" name="Google Shape;283;p2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84" name="Google Shape;284;p23"/>
          <p:cNvGrpSpPr/>
          <p:nvPr/>
        </p:nvGrpSpPr>
        <p:grpSpPr>
          <a:xfrm>
            <a:off x="186055" y="332740"/>
            <a:ext cx="687070" cy="687070"/>
            <a:chOff x="473351" y="619523"/>
            <a:chExt cx="738900" cy="738900"/>
          </a:xfrm>
        </p:grpSpPr>
        <p:sp>
          <p:nvSpPr>
            <p:cNvPr id="285" name="Google Shape;285;p23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6" name="Google Shape;286;p23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87" name="Google Shape;287;p23"/>
          <p:cNvGraphicFramePr/>
          <p:nvPr/>
        </p:nvGraphicFramePr>
        <p:xfrm>
          <a:off x="1337310" y="11518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{D888EA06-BA7D-4813-93E6-CEFF1CFF8F05}</a:tableStyleId>
              </a:tblPr>
              <a:tblGrid>
                <a:gridCol w="9022725"/>
              </a:tblGrid>
              <a:tr h="561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eventoFuturo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b="0"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1"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Promise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b="0" i="1"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resolve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b="0" i="1"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reject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b="0"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===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b="0"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resolve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b="0"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Promessa resolvida</a:t>
                      </a:r>
                      <a:r>
                        <a:rPr b="0"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} </a:t>
                      </a: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b="0"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reject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b="0"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Promessa rejeitada</a:t>
                      </a:r>
                      <a:r>
                        <a:rPr b="0"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}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b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0"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eventoFuturo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 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Promise { &lt;fulfilled&gt; 'Promessa resolvida' }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eventoFuturo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 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Promise { &lt;rejected&gt; 'Promessa rejeitada' }</a:t>
                      </a:r>
                      <a:endParaRPr b="0" sz="2400" u="none" cap="none" strike="noStrike">
                        <a:solidFill>
                          <a:srgbClr val="6272A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4"/>
          <p:cNvSpPr txBox="1"/>
          <p:nvPr>
            <p:ph type="title"/>
          </p:nvPr>
        </p:nvSpPr>
        <p:spPr>
          <a:xfrm>
            <a:off x="981708" y="29035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Exemplo: Resolve &amp; Reject</a:t>
            </a:r>
            <a:endParaRPr/>
          </a:p>
        </p:txBody>
      </p:sp>
      <p:sp>
        <p:nvSpPr>
          <p:cNvPr id="293" name="Google Shape;293;p2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94" name="Google Shape;294;p24"/>
          <p:cNvGrpSpPr/>
          <p:nvPr/>
        </p:nvGrpSpPr>
        <p:grpSpPr>
          <a:xfrm>
            <a:off x="186055" y="332740"/>
            <a:ext cx="687070" cy="687070"/>
            <a:chOff x="473351" y="619523"/>
            <a:chExt cx="738900" cy="738900"/>
          </a:xfrm>
        </p:grpSpPr>
        <p:sp>
          <p:nvSpPr>
            <p:cNvPr id="295" name="Google Shape;295;p24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6" name="Google Shape;296;p24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97" name="Google Shape;297;p24"/>
          <p:cNvGraphicFramePr/>
          <p:nvPr/>
        </p:nvGraphicFramePr>
        <p:xfrm>
          <a:off x="839470" y="17005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{D888EA06-BA7D-4813-93E6-CEFF1CFF8F05}</a:tableStyleId>
              </a:tblPr>
              <a:tblGrid>
                <a:gridCol w="10327000"/>
              </a:tblGrid>
              <a:tr h="232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eventoFuturo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Promise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resolve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reject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setTimeout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resolve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Promessa resolvida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reject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Promessa rejeitada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},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2000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eventoFuturo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 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Promise { &lt;pending&gt; }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eventoFuturo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 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Promise { &lt;pending&gt; }</a:t>
                      </a:r>
                      <a:endParaRPr sz="2400" u="none" cap="none" strike="noStrike">
                        <a:solidFill>
                          <a:srgbClr val="6272A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sp>
        <p:nvSpPr>
          <p:cNvPr id="298" name="Google Shape;298;p24"/>
          <p:cNvSpPr txBox="1"/>
          <p:nvPr/>
        </p:nvSpPr>
        <p:spPr>
          <a:xfrm>
            <a:off x="873125" y="981075"/>
            <a:ext cx="10392410" cy="6121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Vejamos o mesmo caso adicionando um delay com setTimeout:</a:t>
            </a:r>
            <a:endParaRPr b="0" i="0" sz="2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5"/>
          <p:cNvSpPr txBox="1"/>
          <p:nvPr>
            <p:ph type="title"/>
          </p:nvPr>
        </p:nvSpPr>
        <p:spPr>
          <a:xfrm>
            <a:off x="981708" y="29035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Exemplo: Resolve &amp; Reject</a:t>
            </a:r>
            <a:endParaRPr/>
          </a:p>
        </p:txBody>
      </p:sp>
      <p:sp>
        <p:nvSpPr>
          <p:cNvPr id="304" name="Google Shape;304;p2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305" name="Google Shape;305;p25"/>
          <p:cNvGrpSpPr/>
          <p:nvPr/>
        </p:nvGrpSpPr>
        <p:grpSpPr>
          <a:xfrm>
            <a:off x="186055" y="332740"/>
            <a:ext cx="687070" cy="687070"/>
            <a:chOff x="473351" y="619523"/>
            <a:chExt cx="738900" cy="738900"/>
          </a:xfrm>
        </p:grpSpPr>
        <p:sp>
          <p:nvSpPr>
            <p:cNvPr id="306" name="Google Shape;306;p25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7" name="Google Shape;307;p25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8" name="Google Shape;308;p25"/>
          <p:cNvSpPr txBox="1"/>
          <p:nvPr/>
        </p:nvSpPr>
        <p:spPr>
          <a:xfrm>
            <a:off x="534670" y="1221740"/>
            <a:ext cx="11287125" cy="31978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Nesse caso, o console.log é síncrono, e vemos que a promessa está em pending em ambas as chamadas. Sua resolução será gerada dentro de 2 segundos. As promessas têm um mecanismo para trabalhar com essa assincronia e executar funções quando mudarem seu estado.</a:t>
            </a:r>
            <a:endParaRPr b="0" i="0" sz="2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6"/>
          <p:cNvSpPr txBox="1"/>
          <p:nvPr>
            <p:ph type="title"/>
          </p:nvPr>
        </p:nvSpPr>
        <p:spPr>
          <a:xfrm>
            <a:off x="839470" y="476885"/>
            <a:ext cx="935228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Then &amp; Catch</a:t>
            </a:r>
            <a:endParaRPr/>
          </a:p>
        </p:txBody>
      </p:sp>
      <p:sp>
        <p:nvSpPr>
          <p:cNvPr id="314" name="Google Shape;314;p2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5" name="Google Shape;315;p26"/>
          <p:cNvSpPr txBox="1"/>
          <p:nvPr/>
        </p:nvSpPr>
        <p:spPr>
          <a:xfrm>
            <a:off x="721995" y="1553210"/>
            <a:ext cx="9462770" cy="35420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chamar uma função que retorna uma promessa, podemos concatenar o método .then() ou .catch(), os quais recebem uma função por parâmetro que capta o valor da promessa: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.then():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a promessa for resolvida ✅, seu valor de retorno é captado dentro do .then(), recebendo esse valor como parâmetro de sua função.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.catch():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a promessa for rejeitada ❌, seu valor é captado dentro de um .catch(), seguindo a mesma lógica.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"/>
          <p:cNvSpPr txBox="1"/>
          <p:nvPr>
            <p:ph type="title"/>
          </p:nvPr>
        </p:nvSpPr>
        <p:spPr>
          <a:xfrm>
            <a:off x="839470" y="476885"/>
            <a:ext cx="935228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Then &amp; Catch</a:t>
            </a:r>
            <a:endParaRPr/>
          </a:p>
        </p:txBody>
      </p:sp>
      <p:sp>
        <p:nvSpPr>
          <p:cNvPr id="321" name="Google Shape;321;p2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2" name="Google Shape;322;p27"/>
          <p:cNvSpPr txBox="1"/>
          <p:nvPr/>
        </p:nvSpPr>
        <p:spPr>
          <a:xfrm>
            <a:off x="839470" y="1557020"/>
            <a:ext cx="3717290" cy="45827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quisermos executar quando a promessa for resolvida ou rejeitada deve ser definido dentro de um</a:t>
            </a:r>
            <a:r>
              <a:rPr b="1" i="0" lang="pt-BR" sz="22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 .then() 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</a:t>
            </a:r>
            <a:r>
              <a:rPr b="1" i="0" lang="pt-BR" sz="22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.catch()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 acordo com o caso: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dois console.log são exibidos após 2 segundos de delay, e o que vemos é exatamente o valor retornado pelo resolve ou reject da promessa.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3" name="Google Shape;323;p27"/>
          <p:cNvGraphicFramePr/>
          <p:nvPr/>
        </p:nvGraphicFramePr>
        <p:xfrm>
          <a:off x="4832985" y="9182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{D888EA06-BA7D-4813-93E6-CEFF1CFF8F05}</a:tableStyleId>
              </a:tblPr>
              <a:tblGrid>
                <a:gridCol w="7054225"/>
              </a:tblGrid>
              <a:tr h="565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eventoFuturo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Promise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resolve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reject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setTimeout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resolve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Promessa resolvida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reject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Promessa rejeitada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},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eventoFuturo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response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response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Promessa resolvida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eventoFuturo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catch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error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error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Promessa rejeitada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8"/>
          <p:cNvSpPr txBox="1"/>
          <p:nvPr>
            <p:ph type="title"/>
          </p:nvPr>
        </p:nvSpPr>
        <p:spPr>
          <a:xfrm>
            <a:off x="839470" y="476885"/>
            <a:ext cx="935228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Then &amp; Catch</a:t>
            </a:r>
            <a:endParaRPr/>
          </a:p>
        </p:txBody>
      </p:sp>
      <p:sp>
        <p:nvSpPr>
          <p:cNvPr id="329" name="Google Shape;329;p2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0" name="Google Shape;330;p28"/>
          <p:cNvSpPr txBox="1"/>
          <p:nvPr/>
        </p:nvSpPr>
        <p:spPr>
          <a:xfrm>
            <a:off x="767715" y="1412875"/>
            <a:ext cx="4332605" cy="535241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uma promessa pode ter vários estados possíveis de acordo com o caso, podemos concatenar vários </a:t>
            </a:r>
            <a:r>
              <a:rPr b="1" i="0" lang="pt-BR" sz="21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.then()</a:t>
            </a:r>
            <a:r>
              <a:rPr b="0" i="0" lang="pt-BR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pt-BR" sz="21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.catch()</a:t>
            </a:r>
            <a:r>
              <a:rPr b="0" i="0" lang="pt-BR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uma mesma chamada, caindo no caso correspondente conforme o resultado da promessa.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cada promessa, podemos definir uma estrutura para trabalhar com os diferentes casos possíveis. 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promessa só pode ser </a:t>
            </a:r>
            <a:r>
              <a:rPr b="1" i="0" lang="pt-BR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resolvida ou rejeitada </a:t>
            </a:r>
            <a:r>
              <a:rPr b="0" i="0" lang="pt-BR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única vez. 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1" name="Google Shape;331;p28"/>
          <p:cNvGraphicFramePr/>
          <p:nvPr/>
        </p:nvGraphicFramePr>
        <p:xfrm>
          <a:off x="5163820" y="10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{D888EA06-BA7D-4813-93E6-CEFF1CFF8F05}</a:tableStyleId>
              </a:tblPr>
              <a:tblGrid>
                <a:gridCol w="6944350"/>
              </a:tblGrid>
              <a:tr h="657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pt-BR" sz="19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9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eventoFuturo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9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i="1" lang="pt-BR" sz="19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19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9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pt-BR" sz="19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9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Promise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19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resolve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19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reject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19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19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setTimeout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(() </a:t>
                      </a:r>
                      <a:r>
                        <a:rPr lang="pt-BR" sz="19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i="1" lang="pt-BR" sz="19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9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9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resolve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9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9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Promessa resolvida</a:t>
                      </a:r>
                      <a:r>
                        <a:rPr lang="pt-BR" sz="19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19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9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reject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9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9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Promessa rejeitada</a:t>
                      </a:r>
                      <a:r>
                        <a:rPr lang="pt-BR" sz="19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}, </a:t>
                      </a:r>
                      <a:r>
                        <a:rPr lang="pt-BR" sz="19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2000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9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eventoFuturo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9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19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19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response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19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19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9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19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response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19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Promessa resolvida</a:t>
                      </a:r>
                      <a:endParaRPr sz="19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19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catch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19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error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19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19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9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19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error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pt-BR" sz="19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eventoFuturo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9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19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19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response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19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19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9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19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response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19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catch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19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error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19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19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9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19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error</a:t>
                      </a: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19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Promessa rejeitada</a:t>
                      </a:r>
                      <a:endParaRPr sz="19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pt-BR" sz="19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19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9"/>
          <p:cNvSpPr txBox="1"/>
          <p:nvPr>
            <p:ph type="title"/>
          </p:nvPr>
        </p:nvSpPr>
        <p:spPr>
          <a:xfrm>
            <a:off x="839470" y="476885"/>
            <a:ext cx="935228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Finally</a:t>
            </a:r>
            <a:endParaRPr/>
          </a:p>
        </p:txBody>
      </p:sp>
      <p:sp>
        <p:nvSpPr>
          <p:cNvPr id="337" name="Google Shape;337;p2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8" name="Google Shape;338;p29"/>
          <p:cNvSpPr txBox="1"/>
          <p:nvPr/>
        </p:nvSpPr>
        <p:spPr>
          <a:xfrm>
            <a:off x="616350" y="1833675"/>
            <a:ext cx="3983100" cy="2397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finally()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 método que recebe uma função que sempre será executada ao finalizar a sequência, não importando se a promessa foi ou não resolvida: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9" name="Google Shape;339;p29"/>
          <p:cNvGraphicFramePr/>
          <p:nvPr/>
        </p:nvGraphicFramePr>
        <p:xfrm>
          <a:off x="5426075" y="8845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{D888EA06-BA7D-4813-93E6-CEFF1CFF8F05}</a:tableStyleId>
              </a:tblPr>
              <a:tblGrid>
                <a:gridCol w="6500500"/>
              </a:tblGrid>
              <a:tr h="451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eventoFuturo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response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response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catch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error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error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finally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Fim do processo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Promessa resolvida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Fim do processo</a:t>
                      </a:r>
                      <a:endParaRPr sz="2400" u="none" cap="none" strike="noStrike">
                        <a:solidFill>
                          <a:srgbClr val="6272A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0"/>
          <p:cNvSpPr txBox="1"/>
          <p:nvPr>
            <p:ph type="title"/>
          </p:nvPr>
        </p:nvSpPr>
        <p:spPr>
          <a:xfrm>
            <a:off x="981710" y="290195"/>
            <a:ext cx="9330055" cy="82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1851"/>
              <a:buFont typeface="Arial"/>
              <a:buNone/>
            </a:pPr>
            <a:r>
              <a:rPr lang="pt-BR"/>
              <a:t>Simulando a solicitação de dados</a:t>
            </a:r>
            <a:endParaRPr/>
          </a:p>
        </p:txBody>
      </p:sp>
      <p:sp>
        <p:nvSpPr>
          <p:cNvPr id="345" name="Google Shape;345;p3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346" name="Google Shape;346;p30"/>
          <p:cNvGrpSpPr/>
          <p:nvPr/>
        </p:nvGrpSpPr>
        <p:grpSpPr>
          <a:xfrm>
            <a:off x="186055" y="332740"/>
            <a:ext cx="687070" cy="687070"/>
            <a:chOff x="473351" y="619523"/>
            <a:chExt cx="738900" cy="738900"/>
          </a:xfrm>
        </p:grpSpPr>
        <p:sp>
          <p:nvSpPr>
            <p:cNvPr id="347" name="Google Shape;347;p30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8" name="Google Shape;348;p30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9" name="Google Shape;349;p30"/>
          <p:cNvSpPr txBox="1"/>
          <p:nvPr/>
        </p:nvSpPr>
        <p:spPr>
          <a:xfrm>
            <a:off x="739775" y="1340485"/>
            <a:ext cx="10668635" cy="2397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Nesse exemplo temos um array de produtos vazios.</a:t>
            </a:r>
            <a:endParaRPr b="0" i="0" sz="2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Ao carregar a aplicação, queremos simular um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delay</a:t>
            </a:r>
            <a:r>
              <a:rPr b="0" i="0" lang="pt-BR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para a atualização desses dados, e faremos isso chamando uma promessa que retorna o array de produtos real. </a:t>
            </a:r>
            <a:endParaRPr b="0" i="0" sz="2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Quando captarmos sua resolução, atualizamos nosso array no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.then() </a:t>
            </a:r>
            <a:r>
              <a:rPr b="0" i="0" lang="pt-BR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 chamamos uma função para visualizar o resultado.</a:t>
            </a:r>
            <a:endParaRPr b="0" i="1" sz="2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1"/>
          <p:cNvSpPr txBox="1"/>
          <p:nvPr>
            <p:ph type="title"/>
          </p:nvPr>
        </p:nvSpPr>
        <p:spPr>
          <a:xfrm>
            <a:off x="981710" y="290195"/>
            <a:ext cx="9330055" cy="82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1851"/>
              <a:buFont typeface="Arial"/>
              <a:buNone/>
            </a:pPr>
            <a:r>
              <a:rPr lang="pt-BR"/>
              <a:t>Simulando a solicitação de dados</a:t>
            </a:r>
            <a:endParaRPr/>
          </a:p>
        </p:txBody>
      </p:sp>
      <p:sp>
        <p:nvSpPr>
          <p:cNvPr id="355" name="Google Shape;355;p3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356" name="Google Shape;356;p31"/>
          <p:cNvGrpSpPr/>
          <p:nvPr/>
        </p:nvGrpSpPr>
        <p:grpSpPr>
          <a:xfrm>
            <a:off x="186055" y="332740"/>
            <a:ext cx="687070" cy="687070"/>
            <a:chOff x="473351" y="619523"/>
            <a:chExt cx="738900" cy="738900"/>
          </a:xfrm>
        </p:grpSpPr>
        <p:sp>
          <p:nvSpPr>
            <p:cNvPr id="357" name="Google Shape;357;p31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8" name="Google Shape;358;p31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359" name="Google Shape;359;p31"/>
          <p:cNvGraphicFramePr/>
          <p:nvPr/>
        </p:nvGraphicFramePr>
        <p:xfrm>
          <a:off x="1343660" y="1024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{D888EA06-BA7D-4813-93E6-CEFF1CFF8F05}</a:tableStyleId>
              </a:tblPr>
              <a:tblGrid>
                <a:gridCol w="9937750"/>
              </a:tblGrid>
              <a:tr h="5818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BD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id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nome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 1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1500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id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nome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 2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2500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id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nome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 3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3500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pedirProdutos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()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6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Promise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resolve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reject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16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setTimeout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(()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resolve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BD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},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5000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produtos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[] </a:t>
                      </a:r>
                      <a:r>
                        <a:rPr lang="pt-BR" sz="16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inicializamos com um array vazio</a:t>
                      </a:r>
                      <a:b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6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função que gera a visualização dos produtos</a:t>
                      </a:r>
                      <a:endParaRPr sz="16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renderProdutos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(produtos)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pedimos os dados e geramos a visualização de forma assíncrona</a:t>
                      </a:r>
                      <a:endParaRPr sz="16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pedirProdutos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produtos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</a:t>
                      </a:r>
                      <a:endParaRPr sz="16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renderProdutos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(produtos)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16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365" name="Google Shape;365;p32"/>
          <p:cNvGrpSpPr/>
          <p:nvPr/>
        </p:nvGrpSpPr>
        <p:grpSpPr>
          <a:xfrm>
            <a:off x="1030407" y="613236"/>
            <a:ext cx="401518" cy="401518"/>
            <a:chOff x="974706" y="2467173"/>
            <a:chExt cx="738900" cy="738900"/>
          </a:xfrm>
        </p:grpSpPr>
        <p:sp>
          <p:nvSpPr>
            <p:cNvPr id="366" name="Google Shape;366;p32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7" name="Google Shape;367;p32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8" name="Google Shape;368;p32"/>
          <p:cNvSpPr txBox="1"/>
          <p:nvPr/>
        </p:nvSpPr>
        <p:spPr>
          <a:xfrm>
            <a:off x="983415" y="1196685"/>
            <a:ext cx="4987200" cy="8458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pt-BR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praticar</a:t>
            </a:r>
            <a:endParaRPr b="1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2"/>
          <p:cNvSpPr txBox="1"/>
          <p:nvPr/>
        </p:nvSpPr>
        <p:spPr>
          <a:xfrm>
            <a:off x="1559560" y="525780"/>
            <a:ext cx="3067050" cy="488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ATIVIDADE EM SALA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2"/>
          <p:cNvSpPr txBox="1"/>
          <p:nvPr/>
        </p:nvSpPr>
        <p:spPr>
          <a:xfrm>
            <a:off x="1030605" y="2204720"/>
            <a:ext cx="9796780" cy="36772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Com o que vimos na aula, simule uma solicitação de dados de forma assíncrona:</a:t>
            </a:r>
            <a:endParaRPr b="1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4447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Crie uma função que retorne uma promise que se resolva após alguns segundos, retornando dados relevantes (produtos, usuários, etc.).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4447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Chame essa função e capture sua resolução com um .then(), gerando uma interação relevante com a resposta.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Referências:</a:t>
            </a:r>
            <a:endParaRPr/>
          </a:p>
        </p:txBody>
      </p:sp>
      <p:sp>
        <p:nvSpPr>
          <p:cNvPr id="376" name="Google Shape;376;p3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7" name="Google Shape;377;p33"/>
          <p:cNvSpPr txBox="1"/>
          <p:nvPr/>
        </p:nvSpPr>
        <p:spPr>
          <a:xfrm>
            <a:off x="838200" y="1844675"/>
            <a:ext cx="7740650" cy="20974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✓"/>
            </a:pPr>
            <a:r>
              <a:rPr b="0" i="0" lang="pt-BR" sz="2800" u="sng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Funções assíncronas</a:t>
            </a: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| Developer Mozilla</a:t>
            </a:r>
            <a:endParaRPr b="0" i="0" sz="2800" u="none" cap="none" strike="noStrik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✓"/>
            </a:pPr>
            <a:r>
              <a:rPr b="0" i="0" lang="pt-BR" sz="2800" u="sng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Promise</a:t>
            </a:r>
            <a:r>
              <a:rPr b="0" i="0" lang="pt-BR" sz="2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| Developer Mozilla</a:t>
            </a:r>
            <a:endParaRPr b="1" i="0" sz="2800" u="none" cap="none" strike="noStrik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800" u="sng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JavaScript Promise</a:t>
            </a:r>
            <a:r>
              <a:rPr b="0" i="0" lang="pt-BR" sz="2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| DevMedia</a:t>
            </a:r>
            <a:endParaRPr b="1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4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Copyright © 202</a:t>
            </a:r>
            <a:r>
              <a:rPr lang="pt-BR"/>
              <a:t>5</a:t>
            </a:r>
            <a:br>
              <a:rPr lang="pt-BR">
                <a:latin typeface="Arial"/>
                <a:ea typeface="Arial"/>
                <a:cs typeface="Arial"/>
                <a:sym typeface="Arial"/>
              </a:rPr>
            </a:br>
            <a:r>
              <a:rPr lang="pt-BR"/>
              <a:t>Prof. Lucas Sousa</a:t>
            </a:r>
            <a:endParaRPr/>
          </a:p>
        </p:txBody>
      </p:sp>
      <p:sp>
        <p:nvSpPr>
          <p:cNvPr id="383" name="Google Shape;383;p34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2024-05-06T00:37:00Z</dcterms:created>
  <dc:creator>Allen Fernando Oberleitner Lima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1046-12.2.0.17562</vt:lpwstr>
  </property>
</Properties>
</file>